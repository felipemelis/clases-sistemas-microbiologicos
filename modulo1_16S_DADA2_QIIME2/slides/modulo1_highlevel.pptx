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4A"/>
        </a:solidFill>
        <a:effectLst/>
      </p:bgPr>
    </p:bg>
    <p:spTree>
      <p:nvGrpSpPr>
        <p:cNvPr id="1" name=""/>
        <p:cNvGrpSpPr/>
        <p:nvPr/>
      </p:nvGrpSpPr>
      <p:grpSpPr/>
      <p:sp>
        <p:nvSpPr>
          <p:cNvPr id="2" name="Rectangle 1"/>
          <p:cNvSpPr/>
          <p:nvPr/>
        </p:nvSpPr>
        <p:spPr>
          <a:xfrm>
            <a:off x="0" y="0"/>
            <a:ext cx="502920" cy="6858000"/>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257800"/>
            <a:ext cx="12188952" cy="1600200"/>
          </a:xfrm>
          <a:prstGeom prst="rect">
            <a:avLst/>
          </a:prstGeom>
          <a:solidFill>
            <a:srgbClr val="122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0080"/>
            <a:ext cx="10515600" cy="1234440"/>
          </a:xfrm>
          <a:prstGeom prst="rect">
            <a:avLst/>
          </a:prstGeom>
          <a:noFill/>
        </p:spPr>
        <p:txBody>
          <a:bodyPr wrap="square">
            <a:spAutoFit/>
          </a:bodyPr>
          <a:lstStyle/>
          <a:p>
            <a:pPr algn="l"/>
            <a:r>
              <a:rPr sz="7200" b="1" i="0">
                <a:solidFill>
                  <a:srgbClr val="FFFFFF"/>
                </a:solidFill>
              </a:rPr>
              <a:t>Who's there?</a:t>
            </a:r>
          </a:p>
        </p:txBody>
      </p:sp>
      <p:sp>
        <p:nvSpPr>
          <p:cNvPr id="5" name="TextBox 4"/>
          <p:cNvSpPr txBox="1"/>
          <p:nvPr/>
        </p:nvSpPr>
        <p:spPr>
          <a:xfrm>
            <a:off x="731520" y="1920240"/>
            <a:ext cx="10515600" cy="685800"/>
          </a:xfrm>
          <a:prstGeom prst="rect">
            <a:avLst/>
          </a:prstGeom>
          <a:noFill/>
        </p:spPr>
        <p:txBody>
          <a:bodyPr wrap="square">
            <a:spAutoFit/>
          </a:bodyPr>
          <a:lstStyle/>
          <a:p>
            <a:pPr algn="l"/>
            <a:r>
              <a:rPr sz="3000" b="0" i="0">
                <a:solidFill>
                  <a:srgbClr val="B8DEDB"/>
                </a:solidFill>
              </a:rPr>
              <a:t>Profiling the Microbial Community</a:t>
            </a:r>
          </a:p>
        </p:txBody>
      </p:sp>
      <p:sp>
        <p:nvSpPr>
          <p:cNvPr id="6" name="Rectangle 5"/>
          <p:cNvSpPr/>
          <p:nvPr/>
        </p:nvSpPr>
        <p:spPr>
          <a:xfrm>
            <a:off x="731520" y="2697480"/>
            <a:ext cx="6400800" cy="38100"/>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834640"/>
            <a:ext cx="10058400" cy="502920"/>
          </a:xfrm>
          <a:prstGeom prst="rect">
            <a:avLst/>
          </a:prstGeom>
          <a:noFill/>
        </p:spPr>
        <p:txBody>
          <a:bodyPr wrap="square">
            <a:spAutoFit/>
          </a:bodyPr>
          <a:lstStyle/>
          <a:p>
            <a:pPr algn="l"/>
            <a:r>
              <a:rPr sz="2000" b="0" i="1">
                <a:solidFill>
                  <a:srgbClr val="E8EDF1"/>
                </a:solidFill>
              </a:rPr>
              <a:t>A walk through 16S rRNA amplicon sequencing analysis</a:t>
            </a:r>
          </a:p>
        </p:txBody>
      </p:sp>
      <p:sp>
        <p:nvSpPr>
          <p:cNvPr id="8" name="TextBox 7"/>
          <p:cNvSpPr txBox="1"/>
          <p:nvPr/>
        </p:nvSpPr>
        <p:spPr>
          <a:xfrm>
            <a:off x="731520" y="5349240"/>
            <a:ext cx="2743200" cy="347472"/>
          </a:xfrm>
          <a:prstGeom prst="rect">
            <a:avLst/>
          </a:prstGeom>
          <a:noFill/>
        </p:spPr>
        <p:txBody>
          <a:bodyPr wrap="square">
            <a:spAutoFit/>
          </a:bodyPr>
          <a:lstStyle/>
          <a:p>
            <a:pPr algn="l"/>
            <a:r>
              <a:rPr sz="1300" b="1" i="0">
                <a:solidFill>
                  <a:srgbClr val="B8DEDB"/>
                </a:solidFill>
              </a:rPr>
              <a:t>What we will cover</a:t>
            </a:r>
          </a:p>
        </p:txBody>
      </p:sp>
      <p:sp>
        <p:nvSpPr>
          <p:cNvPr id="9" name="TextBox 8"/>
          <p:cNvSpPr txBox="1"/>
          <p:nvPr/>
        </p:nvSpPr>
        <p:spPr>
          <a:xfrm>
            <a:off x="731520" y="5742432"/>
            <a:ext cx="10515600" cy="182880"/>
          </a:xfrm>
          <a:prstGeom prst="rect">
            <a:avLst/>
          </a:prstGeom>
          <a:noFill/>
        </p:spPr>
        <p:txBody>
          <a:bodyPr wrap="square">
            <a:spAutoFit/>
          </a:bodyPr>
          <a:lstStyle/>
          <a:p>
            <a:pPr algn="l"/>
            <a:r>
              <a:rPr sz="1200" b="0" i="0">
                <a:solidFill>
                  <a:srgbClr val="FFFFFF"/>
                </a:solidFill>
              </a:rPr>
              <a:t>·  How we capture a snapshot of the microbial community</a:t>
            </a:r>
          </a:p>
        </p:txBody>
      </p:sp>
      <p:sp>
        <p:nvSpPr>
          <p:cNvPr id="10" name="TextBox 9"/>
          <p:cNvSpPr txBox="1"/>
          <p:nvPr/>
        </p:nvSpPr>
        <p:spPr>
          <a:xfrm>
            <a:off x="731520" y="5925312"/>
            <a:ext cx="10515600" cy="182880"/>
          </a:xfrm>
          <a:prstGeom prst="rect">
            <a:avLst/>
          </a:prstGeom>
          <a:noFill/>
        </p:spPr>
        <p:txBody>
          <a:bodyPr wrap="square">
            <a:spAutoFit/>
          </a:bodyPr>
          <a:lstStyle/>
          <a:p>
            <a:pPr algn="l"/>
            <a:r>
              <a:rPr sz="1200" b="0" i="0">
                <a:solidFill>
                  <a:srgbClr val="FFFFFF"/>
                </a:solidFill>
              </a:rPr>
              <a:t>·  How we clean and validate the signal</a:t>
            </a:r>
          </a:p>
        </p:txBody>
      </p:sp>
      <p:sp>
        <p:nvSpPr>
          <p:cNvPr id="11" name="TextBox 10"/>
          <p:cNvSpPr txBox="1"/>
          <p:nvPr/>
        </p:nvSpPr>
        <p:spPr>
          <a:xfrm>
            <a:off x="731520" y="6108192"/>
            <a:ext cx="10515600" cy="182880"/>
          </a:xfrm>
          <a:prstGeom prst="rect">
            <a:avLst/>
          </a:prstGeom>
          <a:noFill/>
        </p:spPr>
        <p:txBody>
          <a:bodyPr wrap="square">
            <a:spAutoFit/>
          </a:bodyPr>
          <a:lstStyle/>
          <a:p>
            <a:pPr algn="l"/>
            <a:r>
              <a:rPr sz="1200" b="0" i="0">
                <a:solidFill>
                  <a:srgbClr val="FFFFFF"/>
                </a:solidFill>
              </a:rPr>
              <a:t>·  How we measure diversity — within and between samples</a:t>
            </a:r>
          </a:p>
        </p:txBody>
      </p:sp>
      <p:sp>
        <p:nvSpPr>
          <p:cNvPr id="12" name="TextBox 11"/>
          <p:cNvSpPr txBox="1"/>
          <p:nvPr/>
        </p:nvSpPr>
        <p:spPr>
          <a:xfrm>
            <a:off x="731520" y="6291072"/>
            <a:ext cx="10515600" cy="182880"/>
          </a:xfrm>
          <a:prstGeom prst="rect">
            <a:avLst/>
          </a:prstGeom>
          <a:noFill/>
        </p:spPr>
        <p:txBody>
          <a:bodyPr wrap="square">
            <a:spAutoFit/>
          </a:bodyPr>
          <a:lstStyle/>
          <a:p>
            <a:pPr algn="l"/>
            <a:r>
              <a:rPr sz="1200" b="0" i="0">
                <a:solidFill>
                  <a:srgbClr val="FFFFFF"/>
                </a:solidFill>
              </a:rPr>
              <a:t>·  How we assign names to the microbes we detect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0" y="0"/>
            <a:ext cx="12188952" cy="12618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61872"/>
            <a:ext cx="12188952" cy="54864"/>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56032" cy="1261872"/>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91440"/>
            <a:ext cx="10972800" cy="658368"/>
          </a:xfrm>
          <a:prstGeom prst="rect">
            <a:avLst/>
          </a:prstGeom>
          <a:noFill/>
        </p:spPr>
        <p:txBody>
          <a:bodyPr wrap="square">
            <a:spAutoFit/>
          </a:bodyPr>
          <a:lstStyle/>
          <a:p>
            <a:pPr algn="l"/>
            <a:r>
              <a:rPr sz="3400" b="1" i="0">
                <a:solidFill>
                  <a:srgbClr val="1E3A4A"/>
                </a:solidFill>
              </a:rPr>
              <a:t>What We Will Accomplish Today</a:t>
            </a:r>
          </a:p>
        </p:txBody>
      </p:sp>
      <p:sp>
        <p:nvSpPr>
          <p:cNvPr id="6" name="TextBox 5"/>
          <p:cNvSpPr txBox="1"/>
          <p:nvPr/>
        </p:nvSpPr>
        <p:spPr>
          <a:xfrm>
            <a:off x="384048" y="777240"/>
            <a:ext cx="10972800" cy="384048"/>
          </a:xfrm>
          <a:prstGeom prst="rect">
            <a:avLst/>
          </a:prstGeom>
          <a:noFill/>
        </p:spPr>
        <p:txBody>
          <a:bodyPr wrap="square">
            <a:spAutoFit/>
          </a:bodyPr>
          <a:lstStyle/>
          <a:p>
            <a:pPr algn="l"/>
            <a:r>
              <a:rPr sz="1400" b="0" i="1">
                <a:solidFill>
                  <a:srgbClr val="6E8494"/>
                </a:solidFill>
              </a:rPr>
              <a:t>By the end of this workshop, you will be able to run and interpret a complete 16S analysis</a:t>
            </a:r>
          </a:p>
        </p:txBody>
      </p:sp>
      <p:sp>
        <p:nvSpPr>
          <p:cNvPr id="7" name="Rectangle 6"/>
          <p:cNvSpPr/>
          <p:nvPr/>
        </p:nvSpPr>
        <p:spPr>
          <a:xfrm>
            <a:off x="384048" y="1444752"/>
            <a:ext cx="3703320" cy="2240280"/>
          </a:xfrm>
          <a:prstGeom prst="rect">
            <a:avLst/>
          </a:prstGeom>
          <a:solidFill>
            <a:srgbClr val="FFFFFF"/>
          </a:solidFill>
          <a:ln w="25400">
            <a:solidFill>
              <a:srgbClr val="B8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44752"/>
            <a:ext cx="3703320" cy="475488"/>
          </a:xfrm>
          <a:prstGeom prst="rect">
            <a:avLst/>
          </a:prstGeom>
          <a:solidFill>
            <a:srgbClr val="B8D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4048" y="1444752"/>
            <a:ext cx="256032" cy="2240280"/>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536192"/>
            <a:ext cx="3200400" cy="320040"/>
          </a:xfrm>
          <a:prstGeom prst="rect">
            <a:avLst/>
          </a:prstGeom>
          <a:noFill/>
        </p:spPr>
        <p:txBody>
          <a:bodyPr wrap="square">
            <a:spAutoFit/>
          </a:bodyPr>
          <a:lstStyle/>
          <a:p>
            <a:pPr algn="l"/>
            <a:r>
              <a:rPr sz="1300" b="1" i="0">
                <a:solidFill>
                  <a:srgbClr val="3D908A"/>
                </a:solidFill>
              </a:rPr>
              <a:t>Run a complete 16S pipeline</a:t>
            </a:r>
          </a:p>
        </p:txBody>
      </p:sp>
      <p:sp>
        <p:nvSpPr>
          <p:cNvPr id="11" name="TextBox 10"/>
          <p:cNvSpPr txBox="1"/>
          <p:nvPr/>
        </p:nvSpPr>
        <p:spPr>
          <a:xfrm>
            <a:off x="768096" y="1975104"/>
            <a:ext cx="3200400" cy="1600200"/>
          </a:xfrm>
          <a:prstGeom prst="rect">
            <a:avLst/>
          </a:prstGeom>
          <a:noFill/>
        </p:spPr>
        <p:txBody>
          <a:bodyPr wrap="square">
            <a:spAutoFit/>
          </a:bodyPr>
          <a:lstStyle/>
          <a:p>
            <a:pPr algn="l"/>
            <a:r>
              <a:rPr sz="1100" b="0" i="0">
                <a:solidFill>
                  <a:srgbClr val="1E3A4A"/>
                </a:solidFill>
              </a:rPr>
              <a:t>Starting from raw FASTQ files, execute every step — import, quality control, primer removal, denoising, phylogeny, diversity, and taxonomy — using the same tools used in production environments.</a:t>
            </a:r>
          </a:p>
        </p:txBody>
      </p:sp>
      <p:sp>
        <p:nvSpPr>
          <p:cNvPr id="12" name="Rectangle 11"/>
          <p:cNvSpPr/>
          <p:nvPr/>
        </p:nvSpPr>
        <p:spPr>
          <a:xfrm>
            <a:off x="4334256" y="1444752"/>
            <a:ext cx="3703320" cy="2240280"/>
          </a:xfrm>
          <a:prstGeom prst="rect">
            <a:avLst/>
          </a:prstGeom>
          <a:solidFill>
            <a:srgbClr val="FFFFFF"/>
          </a:solidFill>
          <a:ln w="25400">
            <a:solidFill>
              <a:srgbClr val="BBD6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6" y="1444752"/>
            <a:ext cx="3703320" cy="475488"/>
          </a:xfrm>
          <a:prstGeom prst="rect">
            <a:avLst/>
          </a:prstGeom>
          <a:solidFill>
            <a:srgbClr val="BBD6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34256" y="1444752"/>
            <a:ext cx="256032" cy="2240280"/>
          </a:xfrm>
          <a:prstGeom prst="rect">
            <a:avLst/>
          </a:prstGeom>
          <a:solidFill>
            <a:srgbClr val="4A7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18304" y="1536192"/>
            <a:ext cx="3200400" cy="320040"/>
          </a:xfrm>
          <a:prstGeom prst="rect">
            <a:avLst/>
          </a:prstGeom>
          <a:noFill/>
        </p:spPr>
        <p:txBody>
          <a:bodyPr wrap="square">
            <a:spAutoFit/>
          </a:bodyPr>
          <a:lstStyle/>
          <a:p>
            <a:pPr algn="l"/>
            <a:r>
              <a:rPr sz="1300" b="1" i="0">
                <a:solidFill>
                  <a:srgbClr val="4A7FA5"/>
                </a:solidFill>
              </a:rPr>
              <a:t>Understand every decision</a:t>
            </a:r>
          </a:p>
        </p:txBody>
      </p:sp>
      <p:sp>
        <p:nvSpPr>
          <p:cNvPr id="16" name="TextBox 15"/>
          <p:cNvSpPr txBox="1"/>
          <p:nvPr/>
        </p:nvSpPr>
        <p:spPr>
          <a:xfrm>
            <a:off x="4718304" y="1975104"/>
            <a:ext cx="3200400" cy="1600200"/>
          </a:xfrm>
          <a:prstGeom prst="rect">
            <a:avLst/>
          </a:prstGeom>
          <a:noFill/>
        </p:spPr>
        <p:txBody>
          <a:bodyPr wrap="square">
            <a:spAutoFit/>
          </a:bodyPr>
          <a:lstStyle/>
          <a:p>
            <a:pPr algn="l"/>
            <a:r>
              <a:rPr sz="1100" b="0" i="0">
                <a:solidFill>
                  <a:srgbClr val="1E3A4A"/>
                </a:solidFill>
              </a:rPr>
              <a:t>Know why each step exists, what can go wrong, and how to read the outputs. Quality scores, denoising stats, rarefaction curves — you will know what to look for and what to worry about.</a:t>
            </a:r>
          </a:p>
        </p:txBody>
      </p:sp>
      <p:sp>
        <p:nvSpPr>
          <p:cNvPr id="17" name="Rectangle 16"/>
          <p:cNvSpPr/>
          <p:nvPr/>
        </p:nvSpPr>
        <p:spPr>
          <a:xfrm>
            <a:off x="8284464" y="1444752"/>
            <a:ext cx="3703320" cy="2240280"/>
          </a:xfrm>
          <a:prstGeom prst="rect">
            <a:avLst/>
          </a:prstGeom>
          <a:solidFill>
            <a:srgbClr val="FFFFFF"/>
          </a:solidFill>
          <a:ln w="25400">
            <a:solidFill>
              <a:srgbClr val="F5C8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84464" y="1444752"/>
            <a:ext cx="3703320" cy="475488"/>
          </a:xfrm>
          <a:prstGeom prst="rect">
            <a:avLst/>
          </a:prstGeom>
          <a:solidFill>
            <a:srgbClr val="F5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84464" y="1444752"/>
            <a:ext cx="256032" cy="2240280"/>
          </a:xfrm>
          <a:prstGeom prst="rect">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68512" y="1536192"/>
            <a:ext cx="3200400" cy="320040"/>
          </a:xfrm>
          <a:prstGeom prst="rect">
            <a:avLst/>
          </a:prstGeom>
          <a:noFill/>
        </p:spPr>
        <p:txBody>
          <a:bodyPr wrap="square">
            <a:spAutoFit/>
          </a:bodyPr>
          <a:lstStyle/>
          <a:p>
            <a:pPr algn="l"/>
            <a:r>
              <a:rPr sz="1300" b="1" i="0">
                <a:solidFill>
                  <a:srgbClr val="CB6B52"/>
                </a:solidFill>
              </a:rPr>
              <a:t>Interpret diversity results</a:t>
            </a:r>
          </a:p>
        </p:txBody>
      </p:sp>
      <p:sp>
        <p:nvSpPr>
          <p:cNvPr id="21" name="TextBox 20"/>
          <p:cNvSpPr txBox="1"/>
          <p:nvPr/>
        </p:nvSpPr>
        <p:spPr>
          <a:xfrm>
            <a:off x="8668512" y="1975104"/>
            <a:ext cx="3200400" cy="1600200"/>
          </a:xfrm>
          <a:prstGeom prst="rect">
            <a:avLst/>
          </a:prstGeom>
          <a:noFill/>
        </p:spPr>
        <p:txBody>
          <a:bodyPr wrap="square">
            <a:spAutoFit/>
          </a:bodyPr>
          <a:lstStyle/>
          <a:p>
            <a:pPr algn="l"/>
            <a:r>
              <a:rPr sz="1100" b="0" i="0">
                <a:solidFill>
                  <a:srgbClr val="1E3A4A"/>
                </a:solidFill>
              </a:rPr>
              <a:t>Read and explain alpha diversity (richness within a sample) and beta diversity (differences between samples). Understand what a PCoA plot is telling you and whether the patterns are meaningful.</a:t>
            </a:r>
          </a:p>
        </p:txBody>
      </p:sp>
      <p:sp>
        <p:nvSpPr>
          <p:cNvPr id="22" name="Rectangle 21"/>
          <p:cNvSpPr/>
          <p:nvPr/>
        </p:nvSpPr>
        <p:spPr>
          <a:xfrm>
            <a:off x="384048" y="3840480"/>
            <a:ext cx="3703320" cy="2240280"/>
          </a:xfrm>
          <a:prstGeom prst="rect">
            <a:avLst/>
          </a:prstGeom>
          <a:solidFill>
            <a:srgbClr val="FFFFFF"/>
          </a:solidFill>
          <a:ln w="25400">
            <a:solidFill>
              <a:srgbClr val="D5C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4048" y="3840480"/>
            <a:ext cx="3703320" cy="475488"/>
          </a:xfrm>
          <a:prstGeom prst="rect">
            <a:avLst/>
          </a:prstGeom>
          <a:solidFill>
            <a:srgbClr val="D5CF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4048" y="3840480"/>
            <a:ext cx="256032" cy="2240280"/>
          </a:xfrm>
          <a:prstGeom prst="rect">
            <a:avLst/>
          </a:prstGeom>
          <a:solidFill>
            <a:srgbClr val="7B6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931920"/>
            <a:ext cx="3200400" cy="320040"/>
          </a:xfrm>
          <a:prstGeom prst="rect">
            <a:avLst/>
          </a:prstGeom>
          <a:noFill/>
        </p:spPr>
        <p:txBody>
          <a:bodyPr wrap="square">
            <a:spAutoFit/>
          </a:bodyPr>
          <a:lstStyle/>
          <a:p>
            <a:pPr algn="l"/>
            <a:r>
              <a:rPr sz="1300" b="1" i="0">
                <a:solidFill>
                  <a:srgbClr val="7B6EAA"/>
                </a:solidFill>
              </a:rPr>
              <a:t>Assign and visualize taxonomy</a:t>
            </a:r>
          </a:p>
        </p:txBody>
      </p:sp>
      <p:sp>
        <p:nvSpPr>
          <p:cNvPr id="26" name="TextBox 25"/>
          <p:cNvSpPr txBox="1"/>
          <p:nvPr/>
        </p:nvSpPr>
        <p:spPr>
          <a:xfrm>
            <a:off x="768096" y="4370832"/>
            <a:ext cx="3200400" cy="1600200"/>
          </a:xfrm>
          <a:prstGeom prst="rect">
            <a:avLst/>
          </a:prstGeom>
          <a:noFill/>
        </p:spPr>
        <p:txBody>
          <a:bodyPr wrap="square">
            <a:spAutoFit/>
          </a:bodyPr>
          <a:lstStyle/>
          <a:p>
            <a:pPr algn="l"/>
            <a:r>
              <a:rPr sz="1100" b="0" i="0">
                <a:solidFill>
                  <a:srgbClr val="1E3A4A"/>
                </a:solidFill>
              </a:rPr>
              <a:t>Match sequences to a reference database, understand confidence levels, filter out non-bacterial contaminants, and produce a publication-ready stacked barplot of community composition.</a:t>
            </a:r>
          </a:p>
        </p:txBody>
      </p:sp>
      <p:sp>
        <p:nvSpPr>
          <p:cNvPr id="27" name="Rectangle 26"/>
          <p:cNvSpPr/>
          <p:nvPr/>
        </p:nvSpPr>
        <p:spPr>
          <a:xfrm>
            <a:off x="4334256" y="3840480"/>
            <a:ext cx="3703320" cy="2240280"/>
          </a:xfrm>
          <a:prstGeom prst="rect">
            <a:avLst/>
          </a:prstGeom>
          <a:solidFill>
            <a:srgbClr val="FFFFFF"/>
          </a:solidFill>
          <a:ln w="25400">
            <a:solidFill>
              <a:srgbClr val="C3E6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34256" y="3840480"/>
            <a:ext cx="3703320" cy="475488"/>
          </a:xfrm>
          <a:prstGeom prst="rect">
            <a:avLst/>
          </a:prstGeom>
          <a:solidFill>
            <a:srgbClr val="C3E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34256" y="3840480"/>
            <a:ext cx="256032" cy="2240280"/>
          </a:xfrm>
          <a:prstGeom prst="rect">
            <a:avLst/>
          </a:prstGeom>
          <a:solidFill>
            <a:srgbClr val="4F9A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18304" y="3931920"/>
            <a:ext cx="3200400" cy="320040"/>
          </a:xfrm>
          <a:prstGeom prst="rect">
            <a:avLst/>
          </a:prstGeom>
          <a:noFill/>
        </p:spPr>
        <p:txBody>
          <a:bodyPr wrap="square">
            <a:spAutoFit/>
          </a:bodyPr>
          <a:lstStyle/>
          <a:p>
            <a:pPr algn="l"/>
            <a:r>
              <a:rPr sz="1300" b="1" i="0">
                <a:solidFill>
                  <a:srgbClr val="4F9A60"/>
                </a:solidFill>
              </a:rPr>
              <a:t>Apply this to your own data</a:t>
            </a:r>
          </a:p>
        </p:txBody>
      </p:sp>
      <p:sp>
        <p:nvSpPr>
          <p:cNvPr id="31" name="TextBox 30"/>
          <p:cNvSpPr txBox="1"/>
          <p:nvPr/>
        </p:nvSpPr>
        <p:spPr>
          <a:xfrm>
            <a:off x="4718304" y="4370832"/>
            <a:ext cx="3200400" cy="1600200"/>
          </a:xfrm>
          <a:prstGeom prst="rect">
            <a:avLst/>
          </a:prstGeom>
          <a:noFill/>
        </p:spPr>
        <p:txBody>
          <a:bodyPr wrap="square">
            <a:spAutoFit/>
          </a:bodyPr>
          <a:lstStyle/>
          <a:p>
            <a:pPr algn="l"/>
            <a:r>
              <a:rPr sz="1100" b="0" i="0">
                <a:solidFill>
                  <a:srgbClr val="1E3A4A"/>
                </a:solidFill>
              </a:rPr>
              <a:t>The pipeline you run today is the same one you will use on the dataset assigned for evaluation. After this workshop, you have everything you need to complete the analysis independently.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0" y="0"/>
            <a:ext cx="12188952" cy="12618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61872"/>
            <a:ext cx="12188952" cy="54864"/>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56032" cy="1261872"/>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91440"/>
            <a:ext cx="9144000" cy="658368"/>
          </a:xfrm>
          <a:prstGeom prst="rect">
            <a:avLst/>
          </a:prstGeom>
          <a:noFill/>
        </p:spPr>
        <p:txBody>
          <a:bodyPr wrap="square">
            <a:spAutoFit/>
          </a:bodyPr>
          <a:lstStyle/>
          <a:p>
            <a:pPr algn="l"/>
            <a:r>
              <a:rPr sz="3400" b="1" i="0">
                <a:solidFill>
                  <a:srgbClr val="1E3A4A"/>
                </a:solidFill>
              </a:rPr>
              <a:t>The Big Picture</a:t>
            </a:r>
          </a:p>
        </p:txBody>
      </p:sp>
      <p:sp>
        <p:nvSpPr>
          <p:cNvPr id="6" name="TextBox 5"/>
          <p:cNvSpPr txBox="1"/>
          <p:nvPr/>
        </p:nvSpPr>
        <p:spPr>
          <a:xfrm>
            <a:off x="384048" y="749808"/>
            <a:ext cx="9144000" cy="384048"/>
          </a:xfrm>
          <a:prstGeom prst="rect">
            <a:avLst/>
          </a:prstGeom>
          <a:noFill/>
        </p:spPr>
        <p:txBody>
          <a:bodyPr wrap="square">
            <a:spAutoFit/>
          </a:bodyPr>
          <a:lstStyle/>
          <a:p>
            <a:pPr algn="l"/>
            <a:r>
              <a:rPr sz="1500" b="0" i="1">
                <a:solidFill>
                  <a:srgbClr val="6E8494"/>
                </a:solidFill>
              </a:rPr>
              <a:t>From a biological sample to a microbial profile</a:t>
            </a:r>
          </a:p>
        </p:txBody>
      </p:sp>
      <p:sp>
        <p:nvSpPr>
          <p:cNvPr id="7" name="Rectangle 6"/>
          <p:cNvSpPr/>
          <p:nvPr/>
        </p:nvSpPr>
        <p:spPr>
          <a:xfrm>
            <a:off x="384048" y="1463040"/>
            <a:ext cx="2011680" cy="2377440"/>
          </a:xfrm>
          <a:prstGeom prst="rect">
            <a:avLst/>
          </a:prstGeom>
          <a:solidFill>
            <a:srgbClr val="FFFFFF"/>
          </a:solidFill>
          <a:ln w="25400">
            <a:solidFill>
              <a:srgbClr val="B8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63040"/>
            <a:ext cx="2011680" cy="594360"/>
          </a:xfrm>
          <a:prstGeom prst="rect">
            <a:avLst/>
          </a:prstGeom>
          <a:solidFill>
            <a:srgbClr val="B8D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 y="1508760"/>
            <a:ext cx="1828800" cy="548640"/>
          </a:xfrm>
          <a:prstGeom prst="rect">
            <a:avLst/>
          </a:prstGeom>
          <a:noFill/>
        </p:spPr>
        <p:txBody>
          <a:bodyPr wrap="square">
            <a:spAutoFit/>
          </a:bodyPr>
          <a:lstStyle/>
          <a:p>
            <a:pPr algn="ctr"/>
            <a:r>
              <a:rPr sz="1400" b="1" i="0">
                <a:solidFill>
                  <a:srgbClr val="3D908A"/>
                </a:solidFill>
              </a:rPr>
              <a:t>Sample
collection</a:t>
            </a:r>
          </a:p>
        </p:txBody>
      </p:sp>
      <p:sp>
        <p:nvSpPr>
          <p:cNvPr id="10" name="TextBox 9"/>
          <p:cNvSpPr txBox="1"/>
          <p:nvPr/>
        </p:nvSpPr>
        <p:spPr>
          <a:xfrm>
            <a:off x="493776" y="2148840"/>
            <a:ext cx="1828800" cy="1600200"/>
          </a:xfrm>
          <a:prstGeom prst="rect">
            <a:avLst/>
          </a:prstGeom>
          <a:noFill/>
        </p:spPr>
        <p:txBody>
          <a:bodyPr wrap="square">
            <a:spAutoFit/>
          </a:bodyPr>
          <a:lstStyle/>
          <a:p>
            <a:pPr algn="ctr"/>
            <a:r>
              <a:rPr sz="1200" b="0" i="0">
                <a:solidFill>
                  <a:srgbClr val="1E3A4A"/>
                </a:solidFill>
              </a:rPr>
              <a:t>Extract DNA from
the sample</a:t>
            </a:r>
          </a:p>
        </p:txBody>
      </p:sp>
      <p:cxnSp>
        <p:nvCxnSpPr>
          <p:cNvPr id="11" name="Connector 10"/>
          <p:cNvCxnSpPr/>
          <p:nvPr/>
        </p:nvCxnSpPr>
        <p:spPr>
          <a:xfrm>
            <a:off x="2395728" y="2651760"/>
            <a:ext cx="201168" cy="0"/>
          </a:xfrm>
          <a:prstGeom prst="line">
            <a:avLst/>
          </a:prstGeom>
          <a:ln w="25400">
            <a:solidFill>
              <a:srgbClr val="3D908A"/>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596896" y="1463040"/>
            <a:ext cx="2011680" cy="2377440"/>
          </a:xfrm>
          <a:prstGeom prst="rect">
            <a:avLst/>
          </a:prstGeom>
          <a:solidFill>
            <a:srgbClr val="FFFFFF"/>
          </a:solidFill>
          <a:ln w="25400">
            <a:solidFill>
              <a:srgbClr val="BBD6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96896" y="1463040"/>
            <a:ext cx="2011680" cy="594360"/>
          </a:xfrm>
          <a:prstGeom prst="rect">
            <a:avLst/>
          </a:prstGeom>
          <a:solidFill>
            <a:srgbClr val="BBD6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06624" y="1508760"/>
            <a:ext cx="1828800" cy="548640"/>
          </a:xfrm>
          <a:prstGeom prst="rect">
            <a:avLst/>
          </a:prstGeom>
          <a:noFill/>
        </p:spPr>
        <p:txBody>
          <a:bodyPr wrap="square">
            <a:spAutoFit/>
          </a:bodyPr>
          <a:lstStyle/>
          <a:p>
            <a:pPr algn="ctr"/>
            <a:r>
              <a:rPr sz="1400" b="1" i="0">
                <a:solidFill>
                  <a:srgbClr val="4A7FA5"/>
                </a:solidFill>
              </a:rPr>
              <a:t>Targeted
amplification</a:t>
            </a:r>
          </a:p>
        </p:txBody>
      </p:sp>
      <p:sp>
        <p:nvSpPr>
          <p:cNvPr id="15" name="TextBox 14"/>
          <p:cNvSpPr txBox="1"/>
          <p:nvPr/>
        </p:nvSpPr>
        <p:spPr>
          <a:xfrm>
            <a:off x="2706624" y="2148840"/>
            <a:ext cx="1828800" cy="1600200"/>
          </a:xfrm>
          <a:prstGeom prst="rect">
            <a:avLst/>
          </a:prstGeom>
          <a:noFill/>
        </p:spPr>
        <p:txBody>
          <a:bodyPr wrap="square">
            <a:spAutoFit/>
          </a:bodyPr>
          <a:lstStyle/>
          <a:p>
            <a:pPr algn="ctr"/>
            <a:r>
              <a:rPr sz="1200" b="0" i="0">
                <a:solidFill>
                  <a:srgbClr val="1E3A4A"/>
                </a:solidFill>
              </a:rPr>
              <a:t>PCR-amplify the
16S marker gene</a:t>
            </a:r>
          </a:p>
        </p:txBody>
      </p:sp>
      <p:cxnSp>
        <p:nvCxnSpPr>
          <p:cNvPr id="16" name="Connector 15"/>
          <p:cNvCxnSpPr/>
          <p:nvPr/>
        </p:nvCxnSpPr>
        <p:spPr>
          <a:xfrm>
            <a:off x="4608576" y="2651760"/>
            <a:ext cx="201168" cy="0"/>
          </a:xfrm>
          <a:prstGeom prst="line">
            <a:avLst/>
          </a:prstGeom>
          <a:ln w="25400">
            <a:solidFill>
              <a:srgbClr val="4A7FA5"/>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809744" y="1463040"/>
            <a:ext cx="2011680" cy="2377440"/>
          </a:xfrm>
          <a:prstGeom prst="rect">
            <a:avLst/>
          </a:prstGeom>
          <a:solidFill>
            <a:srgbClr val="FFFFFF"/>
          </a:solidFill>
          <a:ln w="25400">
            <a:solidFill>
              <a:srgbClr val="F5C8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09744" y="1463040"/>
            <a:ext cx="2011680" cy="594360"/>
          </a:xfrm>
          <a:prstGeom prst="rect">
            <a:avLst/>
          </a:prstGeom>
          <a:solidFill>
            <a:srgbClr val="F5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19472" y="1508760"/>
            <a:ext cx="1828800" cy="548640"/>
          </a:xfrm>
          <a:prstGeom prst="rect">
            <a:avLst/>
          </a:prstGeom>
          <a:noFill/>
        </p:spPr>
        <p:txBody>
          <a:bodyPr wrap="square">
            <a:spAutoFit/>
          </a:bodyPr>
          <a:lstStyle/>
          <a:p>
            <a:pPr algn="ctr"/>
            <a:r>
              <a:rPr sz="1400" b="1" i="0">
                <a:solidFill>
                  <a:srgbClr val="CB6B52"/>
                </a:solidFill>
              </a:rPr>
              <a:t>Sequencing</a:t>
            </a:r>
          </a:p>
        </p:txBody>
      </p:sp>
      <p:sp>
        <p:nvSpPr>
          <p:cNvPr id="20" name="TextBox 19"/>
          <p:cNvSpPr txBox="1"/>
          <p:nvPr/>
        </p:nvSpPr>
        <p:spPr>
          <a:xfrm>
            <a:off x="4919472" y="2148840"/>
            <a:ext cx="1828800" cy="1600200"/>
          </a:xfrm>
          <a:prstGeom prst="rect">
            <a:avLst/>
          </a:prstGeom>
          <a:noFill/>
        </p:spPr>
        <p:txBody>
          <a:bodyPr wrap="square">
            <a:spAutoFit/>
          </a:bodyPr>
          <a:lstStyle/>
          <a:p>
            <a:pPr algn="ctr"/>
            <a:r>
              <a:rPr sz="1200" b="0" i="0">
                <a:solidFill>
                  <a:srgbClr val="1E3A4A"/>
                </a:solidFill>
              </a:rPr>
              <a:t>Read millions of
DNA fragments</a:t>
            </a:r>
          </a:p>
        </p:txBody>
      </p:sp>
      <p:cxnSp>
        <p:nvCxnSpPr>
          <p:cNvPr id="21" name="Connector 20"/>
          <p:cNvCxnSpPr/>
          <p:nvPr/>
        </p:nvCxnSpPr>
        <p:spPr>
          <a:xfrm>
            <a:off x="6821424" y="2651760"/>
            <a:ext cx="201168" cy="0"/>
          </a:xfrm>
          <a:prstGeom prst="line">
            <a:avLst/>
          </a:prstGeom>
          <a:ln w="25400">
            <a:solidFill>
              <a:srgbClr val="CB6B52"/>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7022592" y="1463040"/>
            <a:ext cx="2011680" cy="2377440"/>
          </a:xfrm>
          <a:prstGeom prst="rect">
            <a:avLst/>
          </a:prstGeom>
          <a:solidFill>
            <a:srgbClr val="FFFFFF"/>
          </a:solidFill>
          <a:ln w="25400">
            <a:solidFill>
              <a:srgbClr val="D5C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22592" y="1463040"/>
            <a:ext cx="2011680" cy="594360"/>
          </a:xfrm>
          <a:prstGeom prst="rect">
            <a:avLst/>
          </a:prstGeom>
          <a:solidFill>
            <a:srgbClr val="D5CF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1508760"/>
            <a:ext cx="1828800" cy="548640"/>
          </a:xfrm>
          <a:prstGeom prst="rect">
            <a:avLst/>
          </a:prstGeom>
          <a:noFill/>
        </p:spPr>
        <p:txBody>
          <a:bodyPr wrap="square">
            <a:spAutoFit/>
          </a:bodyPr>
          <a:lstStyle/>
          <a:p>
            <a:pPr algn="ctr"/>
            <a:r>
              <a:rPr sz="1400" b="1" i="0">
                <a:solidFill>
                  <a:srgbClr val="7B6EAA"/>
                </a:solidFill>
              </a:rPr>
              <a:t>Data processing</a:t>
            </a:r>
          </a:p>
        </p:txBody>
      </p:sp>
      <p:sp>
        <p:nvSpPr>
          <p:cNvPr id="25" name="TextBox 24"/>
          <p:cNvSpPr txBox="1"/>
          <p:nvPr/>
        </p:nvSpPr>
        <p:spPr>
          <a:xfrm>
            <a:off x="7132320" y="2148840"/>
            <a:ext cx="1828800" cy="1600200"/>
          </a:xfrm>
          <a:prstGeom prst="rect">
            <a:avLst/>
          </a:prstGeom>
          <a:noFill/>
        </p:spPr>
        <p:txBody>
          <a:bodyPr wrap="square">
            <a:spAutoFit/>
          </a:bodyPr>
          <a:lstStyle/>
          <a:p>
            <a:pPr algn="ctr"/>
            <a:r>
              <a:rPr sz="1200" b="0" i="0">
                <a:solidFill>
                  <a:srgbClr val="1E3A4A"/>
                </a:solidFill>
              </a:rPr>
              <a:t>Clean, filter and
identify sequences</a:t>
            </a:r>
          </a:p>
        </p:txBody>
      </p:sp>
      <p:cxnSp>
        <p:nvCxnSpPr>
          <p:cNvPr id="26" name="Connector 25"/>
          <p:cNvCxnSpPr/>
          <p:nvPr/>
        </p:nvCxnSpPr>
        <p:spPr>
          <a:xfrm>
            <a:off x="9034272" y="2651760"/>
            <a:ext cx="201168" cy="0"/>
          </a:xfrm>
          <a:prstGeom prst="line">
            <a:avLst/>
          </a:prstGeom>
          <a:ln w="25400">
            <a:solidFill>
              <a:srgbClr val="7B6EAA"/>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9235440" y="1463040"/>
            <a:ext cx="2011680" cy="2377440"/>
          </a:xfrm>
          <a:prstGeom prst="rect">
            <a:avLst/>
          </a:prstGeom>
          <a:solidFill>
            <a:srgbClr val="FFFFFF"/>
          </a:solidFill>
          <a:ln w="25400">
            <a:solidFill>
              <a:srgbClr val="C3E6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35440" y="1463040"/>
            <a:ext cx="2011680" cy="594360"/>
          </a:xfrm>
          <a:prstGeom prst="rect">
            <a:avLst/>
          </a:prstGeom>
          <a:solidFill>
            <a:srgbClr val="C3E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45168" y="1508760"/>
            <a:ext cx="1828800" cy="548640"/>
          </a:xfrm>
          <a:prstGeom prst="rect">
            <a:avLst/>
          </a:prstGeom>
          <a:noFill/>
        </p:spPr>
        <p:txBody>
          <a:bodyPr wrap="square">
            <a:spAutoFit/>
          </a:bodyPr>
          <a:lstStyle/>
          <a:p>
            <a:pPr algn="ctr"/>
            <a:r>
              <a:rPr sz="1400" b="1" i="0">
                <a:solidFill>
                  <a:srgbClr val="4F9A60"/>
                </a:solidFill>
              </a:rPr>
              <a:t>Interpretation</a:t>
            </a:r>
          </a:p>
        </p:txBody>
      </p:sp>
      <p:sp>
        <p:nvSpPr>
          <p:cNvPr id="30" name="TextBox 29"/>
          <p:cNvSpPr txBox="1"/>
          <p:nvPr/>
        </p:nvSpPr>
        <p:spPr>
          <a:xfrm>
            <a:off x="9345168" y="2148840"/>
            <a:ext cx="1828800" cy="1600200"/>
          </a:xfrm>
          <a:prstGeom prst="rect">
            <a:avLst/>
          </a:prstGeom>
          <a:noFill/>
        </p:spPr>
        <p:txBody>
          <a:bodyPr wrap="square">
            <a:spAutoFit/>
          </a:bodyPr>
          <a:lstStyle/>
          <a:p>
            <a:pPr algn="ctr"/>
            <a:r>
              <a:rPr sz="1200" b="0" i="0">
                <a:solidFill>
                  <a:srgbClr val="1E3A4A"/>
                </a:solidFill>
              </a:rPr>
              <a:t>Diversity, taxonomy
and statistics</a:t>
            </a:r>
          </a:p>
        </p:txBody>
      </p:sp>
      <p:sp>
        <p:nvSpPr>
          <p:cNvPr id="31" name="Rectangle 30"/>
          <p:cNvSpPr/>
          <p:nvPr/>
        </p:nvSpPr>
        <p:spPr>
          <a:xfrm>
            <a:off x="384048" y="4041648"/>
            <a:ext cx="11411712" cy="2240280"/>
          </a:xfrm>
          <a:prstGeom prst="rect">
            <a:avLst/>
          </a:prstGeom>
          <a:solidFill>
            <a:srgbClr val="FFFFFF"/>
          </a:solidFill>
          <a:ln w="19050">
            <a:solidFill>
              <a:srgbClr val="B8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4048" y="4041648"/>
            <a:ext cx="256032" cy="2240280"/>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808" y="4114800"/>
            <a:ext cx="6400800" cy="384048"/>
          </a:xfrm>
          <a:prstGeom prst="rect">
            <a:avLst/>
          </a:prstGeom>
          <a:noFill/>
        </p:spPr>
        <p:txBody>
          <a:bodyPr wrap="square">
            <a:spAutoFit/>
          </a:bodyPr>
          <a:lstStyle/>
          <a:p>
            <a:pPr algn="l"/>
            <a:r>
              <a:rPr sz="1600" b="1" i="0">
                <a:solidFill>
                  <a:srgbClr val="3D908A"/>
                </a:solidFill>
              </a:rPr>
              <a:t>Why the 16S rRNA gene?</a:t>
            </a:r>
          </a:p>
        </p:txBody>
      </p:sp>
      <p:sp>
        <p:nvSpPr>
          <p:cNvPr id="34" name="Rectangle 33"/>
          <p:cNvSpPr/>
          <p:nvPr/>
        </p:nvSpPr>
        <p:spPr>
          <a:xfrm>
            <a:off x="749808" y="4590288"/>
            <a:ext cx="3383280" cy="1508760"/>
          </a:xfrm>
          <a:prstGeom prst="rect">
            <a:avLst/>
          </a:prstGeom>
          <a:solidFill>
            <a:srgbClr val="B8D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4645152"/>
            <a:ext cx="3108960" cy="347472"/>
          </a:xfrm>
          <a:prstGeom prst="rect">
            <a:avLst/>
          </a:prstGeom>
          <a:noFill/>
        </p:spPr>
        <p:txBody>
          <a:bodyPr wrap="square">
            <a:spAutoFit/>
          </a:bodyPr>
          <a:lstStyle/>
          <a:p>
            <a:pPr algn="l"/>
            <a:r>
              <a:rPr sz="1300" b="1" i="0">
                <a:solidFill>
                  <a:srgbClr val="3D908A"/>
                </a:solidFill>
              </a:rPr>
              <a:t>Universal</a:t>
            </a:r>
          </a:p>
        </p:txBody>
      </p:sp>
      <p:sp>
        <p:nvSpPr>
          <p:cNvPr id="36" name="TextBox 35"/>
          <p:cNvSpPr txBox="1"/>
          <p:nvPr/>
        </p:nvSpPr>
        <p:spPr>
          <a:xfrm>
            <a:off x="859536" y="5047488"/>
            <a:ext cx="3108960" cy="960120"/>
          </a:xfrm>
          <a:prstGeom prst="rect">
            <a:avLst/>
          </a:prstGeom>
          <a:noFill/>
        </p:spPr>
        <p:txBody>
          <a:bodyPr wrap="square">
            <a:spAutoFit/>
          </a:bodyPr>
          <a:lstStyle/>
          <a:p>
            <a:pPr algn="l"/>
            <a:r>
              <a:rPr sz="1200" b="0" i="0">
                <a:solidFill>
                  <a:srgbClr val="1E3A4A"/>
                </a:solidFill>
              </a:rPr>
              <a:t>Found in every known
bacterium and archaeon</a:t>
            </a:r>
          </a:p>
        </p:txBody>
      </p:sp>
      <p:sp>
        <p:nvSpPr>
          <p:cNvPr id="37" name="Rectangle 36"/>
          <p:cNvSpPr/>
          <p:nvPr/>
        </p:nvSpPr>
        <p:spPr>
          <a:xfrm>
            <a:off x="4407408" y="4590288"/>
            <a:ext cx="3383280" cy="1508760"/>
          </a:xfrm>
          <a:prstGeom prst="rect">
            <a:avLst/>
          </a:prstGeom>
          <a:solidFill>
            <a:srgbClr val="BBD6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17136" y="4645152"/>
            <a:ext cx="3108960" cy="347472"/>
          </a:xfrm>
          <a:prstGeom prst="rect">
            <a:avLst/>
          </a:prstGeom>
          <a:noFill/>
        </p:spPr>
        <p:txBody>
          <a:bodyPr wrap="square">
            <a:spAutoFit/>
          </a:bodyPr>
          <a:lstStyle/>
          <a:p>
            <a:pPr algn="l"/>
            <a:r>
              <a:rPr sz="1300" b="1" i="0">
                <a:solidFill>
                  <a:srgbClr val="4A7FA5"/>
                </a:solidFill>
              </a:rPr>
              <a:t>Discriminating</a:t>
            </a:r>
          </a:p>
        </p:txBody>
      </p:sp>
      <p:sp>
        <p:nvSpPr>
          <p:cNvPr id="39" name="TextBox 38"/>
          <p:cNvSpPr txBox="1"/>
          <p:nvPr/>
        </p:nvSpPr>
        <p:spPr>
          <a:xfrm>
            <a:off x="4517136" y="5047488"/>
            <a:ext cx="3108960" cy="960120"/>
          </a:xfrm>
          <a:prstGeom prst="rect">
            <a:avLst/>
          </a:prstGeom>
          <a:noFill/>
        </p:spPr>
        <p:txBody>
          <a:bodyPr wrap="square">
            <a:spAutoFit/>
          </a:bodyPr>
          <a:lstStyle/>
          <a:p>
            <a:pPr algn="l"/>
            <a:r>
              <a:rPr sz="1200" b="0" i="0">
                <a:solidFill>
                  <a:srgbClr val="1E3A4A"/>
                </a:solidFill>
              </a:rPr>
              <a:t>Variable regions allow us
to tell species apart</a:t>
            </a:r>
          </a:p>
        </p:txBody>
      </p:sp>
      <p:sp>
        <p:nvSpPr>
          <p:cNvPr id="40" name="Rectangle 39"/>
          <p:cNvSpPr/>
          <p:nvPr/>
        </p:nvSpPr>
        <p:spPr>
          <a:xfrm>
            <a:off x="8065008" y="4590288"/>
            <a:ext cx="3383280" cy="1508760"/>
          </a:xfrm>
          <a:prstGeom prst="rect">
            <a:avLst/>
          </a:prstGeom>
          <a:solidFill>
            <a:srgbClr val="D5CF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74736" y="4645152"/>
            <a:ext cx="3108960" cy="347472"/>
          </a:xfrm>
          <a:prstGeom prst="rect">
            <a:avLst/>
          </a:prstGeom>
          <a:noFill/>
        </p:spPr>
        <p:txBody>
          <a:bodyPr wrap="square">
            <a:spAutoFit/>
          </a:bodyPr>
          <a:lstStyle/>
          <a:p>
            <a:pPr algn="l"/>
            <a:r>
              <a:rPr sz="1300" b="1" i="0">
                <a:solidFill>
                  <a:srgbClr val="7B6EAA"/>
                </a:solidFill>
              </a:rPr>
              <a:t>Practical</a:t>
            </a:r>
          </a:p>
        </p:txBody>
      </p:sp>
      <p:sp>
        <p:nvSpPr>
          <p:cNvPr id="42" name="TextBox 41"/>
          <p:cNvSpPr txBox="1"/>
          <p:nvPr/>
        </p:nvSpPr>
        <p:spPr>
          <a:xfrm>
            <a:off x="8174736" y="5047488"/>
            <a:ext cx="3108960" cy="960120"/>
          </a:xfrm>
          <a:prstGeom prst="rect">
            <a:avLst/>
          </a:prstGeom>
          <a:noFill/>
        </p:spPr>
        <p:txBody>
          <a:bodyPr wrap="square">
            <a:spAutoFit/>
          </a:bodyPr>
          <a:lstStyle/>
          <a:p>
            <a:pPr algn="l"/>
            <a:r>
              <a:rPr sz="1200" b="0" i="0">
                <a:solidFill>
                  <a:srgbClr val="1E3A4A"/>
                </a:solidFill>
              </a:rPr>
              <a:t>Well-established protocols
and huge reference databases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0" y="0"/>
            <a:ext cx="12188952" cy="12618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61872"/>
            <a:ext cx="12188952" cy="54864"/>
          </a:xfrm>
          <a:prstGeom prst="rect">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56032" cy="1261872"/>
          </a:xfrm>
          <a:prstGeom prst="rect">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91440"/>
            <a:ext cx="10972800" cy="658368"/>
          </a:xfrm>
          <a:prstGeom prst="rect">
            <a:avLst/>
          </a:prstGeom>
          <a:noFill/>
        </p:spPr>
        <p:txBody>
          <a:bodyPr wrap="square">
            <a:spAutoFit/>
          </a:bodyPr>
          <a:lstStyle/>
          <a:p>
            <a:pPr algn="l"/>
            <a:r>
              <a:rPr sz="3400" b="1" i="0">
                <a:solidFill>
                  <a:srgbClr val="1E3A4A"/>
                </a:solidFill>
              </a:rPr>
              <a:t>From Raw Data to Trusted Sequences</a:t>
            </a:r>
          </a:p>
        </p:txBody>
      </p:sp>
      <p:sp>
        <p:nvSpPr>
          <p:cNvPr id="6" name="TextBox 5"/>
          <p:cNvSpPr txBox="1"/>
          <p:nvPr/>
        </p:nvSpPr>
        <p:spPr>
          <a:xfrm>
            <a:off x="384048" y="749808"/>
            <a:ext cx="10972800" cy="384048"/>
          </a:xfrm>
          <a:prstGeom prst="rect">
            <a:avLst/>
          </a:prstGeom>
          <a:noFill/>
        </p:spPr>
        <p:txBody>
          <a:bodyPr wrap="square">
            <a:spAutoFit/>
          </a:bodyPr>
          <a:lstStyle/>
          <a:p>
            <a:pPr algn="l"/>
            <a:r>
              <a:rPr sz="1500" b="0" i="1">
                <a:solidFill>
                  <a:srgbClr val="6E8494"/>
                </a:solidFill>
              </a:rPr>
              <a:t>Quality control, primer removal, and error correction</a:t>
            </a:r>
          </a:p>
        </p:txBody>
      </p:sp>
      <p:sp>
        <p:nvSpPr>
          <p:cNvPr id="7" name="Rectangle 6"/>
          <p:cNvSpPr/>
          <p:nvPr/>
        </p:nvSpPr>
        <p:spPr>
          <a:xfrm>
            <a:off x="384048" y="1444752"/>
            <a:ext cx="5577840" cy="2331720"/>
          </a:xfrm>
          <a:prstGeom prst="rect">
            <a:avLst/>
          </a:prstGeom>
          <a:solidFill>
            <a:srgbClr val="FFFFFF"/>
          </a:solidFill>
          <a:ln w="25400">
            <a:solidFill>
              <a:srgbClr val="F5C8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44752"/>
            <a:ext cx="457200" cy="2331720"/>
          </a:xfrm>
          <a:prstGeom prst="rect">
            <a:avLst/>
          </a:prstGeom>
          <a:solidFill>
            <a:srgbClr val="F5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4048" y="1444752"/>
            <a:ext cx="5577840" cy="475488"/>
          </a:xfrm>
          <a:prstGeom prst="rect">
            <a:avLst/>
          </a:prstGeom>
          <a:solidFill>
            <a:srgbClr val="F5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 y="1517904"/>
            <a:ext cx="365760" cy="347472"/>
          </a:xfrm>
          <a:prstGeom prst="rect">
            <a:avLst/>
          </a:prstGeom>
          <a:noFill/>
        </p:spPr>
        <p:txBody>
          <a:bodyPr wrap="square">
            <a:spAutoFit/>
          </a:bodyPr>
          <a:lstStyle/>
          <a:p>
            <a:pPr algn="ctr"/>
            <a:r>
              <a:rPr sz="2000" b="1" i="0">
                <a:solidFill>
                  <a:srgbClr val="CB6B52"/>
                </a:solidFill>
              </a:rPr>
              <a:t>1</a:t>
            </a:r>
          </a:p>
        </p:txBody>
      </p:sp>
      <p:sp>
        <p:nvSpPr>
          <p:cNvPr id="11" name="TextBox 10"/>
          <p:cNvSpPr txBox="1"/>
          <p:nvPr/>
        </p:nvSpPr>
        <p:spPr>
          <a:xfrm>
            <a:off x="950976" y="1536192"/>
            <a:ext cx="4846320" cy="347472"/>
          </a:xfrm>
          <a:prstGeom prst="rect">
            <a:avLst/>
          </a:prstGeom>
          <a:noFill/>
        </p:spPr>
        <p:txBody>
          <a:bodyPr wrap="square">
            <a:spAutoFit/>
          </a:bodyPr>
          <a:lstStyle/>
          <a:p>
            <a:pPr algn="l"/>
            <a:r>
              <a:rPr sz="1400" b="1" i="0">
                <a:solidFill>
                  <a:srgbClr val="CB6B52"/>
                </a:solidFill>
              </a:rPr>
              <a:t>Raw reads arrive</a:t>
            </a:r>
          </a:p>
        </p:txBody>
      </p:sp>
      <p:sp>
        <p:nvSpPr>
          <p:cNvPr id="12" name="TextBox 11"/>
          <p:cNvSpPr txBox="1"/>
          <p:nvPr/>
        </p:nvSpPr>
        <p:spPr>
          <a:xfrm>
            <a:off x="950976" y="1993392"/>
            <a:ext cx="4846320" cy="1664208"/>
          </a:xfrm>
          <a:prstGeom prst="rect">
            <a:avLst/>
          </a:prstGeom>
          <a:noFill/>
        </p:spPr>
        <p:txBody>
          <a:bodyPr wrap="square">
            <a:spAutoFit/>
          </a:bodyPr>
          <a:lstStyle/>
          <a:p>
            <a:pPr algn="l"/>
            <a:r>
              <a:rPr sz="1200" b="0" i="0">
                <a:solidFill>
                  <a:srgbClr val="1E3A4A"/>
                </a:solidFill>
              </a:rPr>
              <a:t>Millions of short DNA sequences come off the sequencer.
Each read has a quality score at every position — a measure
of how confident the machine is in each base call.</a:t>
            </a:r>
          </a:p>
        </p:txBody>
      </p:sp>
      <p:sp>
        <p:nvSpPr>
          <p:cNvPr id="13" name="Rectangle 12"/>
          <p:cNvSpPr/>
          <p:nvPr/>
        </p:nvSpPr>
        <p:spPr>
          <a:xfrm>
            <a:off x="6281928" y="1444752"/>
            <a:ext cx="5577840" cy="2331720"/>
          </a:xfrm>
          <a:prstGeom prst="rect">
            <a:avLst/>
          </a:prstGeom>
          <a:solidFill>
            <a:srgbClr val="FFFFFF"/>
          </a:solidFill>
          <a:ln w="25400">
            <a:solidFill>
              <a:srgbClr val="BBD6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81928" y="1444752"/>
            <a:ext cx="457200" cy="2331720"/>
          </a:xfrm>
          <a:prstGeom prst="rect">
            <a:avLst/>
          </a:prstGeom>
          <a:solidFill>
            <a:srgbClr val="BBD6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81928" y="1444752"/>
            <a:ext cx="5577840" cy="475488"/>
          </a:xfrm>
          <a:prstGeom prst="rect">
            <a:avLst/>
          </a:prstGeom>
          <a:solidFill>
            <a:srgbClr val="BBD6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36792" y="1517904"/>
            <a:ext cx="365760" cy="347472"/>
          </a:xfrm>
          <a:prstGeom prst="rect">
            <a:avLst/>
          </a:prstGeom>
          <a:noFill/>
        </p:spPr>
        <p:txBody>
          <a:bodyPr wrap="square">
            <a:spAutoFit/>
          </a:bodyPr>
          <a:lstStyle/>
          <a:p>
            <a:pPr algn="ctr"/>
            <a:r>
              <a:rPr sz="2000" b="1" i="0">
                <a:solidFill>
                  <a:srgbClr val="4A7FA5"/>
                </a:solidFill>
              </a:rPr>
              <a:t>2</a:t>
            </a:r>
          </a:p>
        </p:txBody>
      </p:sp>
      <p:sp>
        <p:nvSpPr>
          <p:cNvPr id="17" name="TextBox 16"/>
          <p:cNvSpPr txBox="1"/>
          <p:nvPr/>
        </p:nvSpPr>
        <p:spPr>
          <a:xfrm>
            <a:off x="6848856" y="1536192"/>
            <a:ext cx="4846320" cy="347472"/>
          </a:xfrm>
          <a:prstGeom prst="rect">
            <a:avLst/>
          </a:prstGeom>
          <a:noFill/>
        </p:spPr>
        <p:txBody>
          <a:bodyPr wrap="square">
            <a:spAutoFit/>
          </a:bodyPr>
          <a:lstStyle/>
          <a:p>
            <a:pPr algn="l"/>
            <a:r>
              <a:rPr sz="1400" b="1" i="0">
                <a:solidFill>
                  <a:srgbClr val="4A7FA5"/>
                </a:solidFill>
              </a:rPr>
              <a:t>Quality inspection</a:t>
            </a:r>
          </a:p>
        </p:txBody>
      </p:sp>
      <p:sp>
        <p:nvSpPr>
          <p:cNvPr id="18" name="TextBox 17"/>
          <p:cNvSpPr txBox="1"/>
          <p:nvPr/>
        </p:nvSpPr>
        <p:spPr>
          <a:xfrm>
            <a:off x="6848856" y="1993392"/>
            <a:ext cx="4846320" cy="1664208"/>
          </a:xfrm>
          <a:prstGeom prst="rect">
            <a:avLst/>
          </a:prstGeom>
          <a:noFill/>
        </p:spPr>
        <p:txBody>
          <a:bodyPr wrap="square">
            <a:spAutoFit/>
          </a:bodyPr>
          <a:lstStyle/>
          <a:p>
            <a:pPr algn="l"/>
            <a:r>
              <a:rPr sz="1200" b="0" i="0">
                <a:solidFill>
                  <a:srgbClr val="1E3A4A"/>
                </a:solidFill>
              </a:rPr>
              <a:t>We inspect quality scores across all positions.
Reads that fall below acceptable thresholds are discarded.
This is the first filter that protects data integrity.</a:t>
            </a:r>
          </a:p>
        </p:txBody>
      </p:sp>
      <p:sp>
        <p:nvSpPr>
          <p:cNvPr id="19" name="Rectangle 18"/>
          <p:cNvSpPr/>
          <p:nvPr/>
        </p:nvSpPr>
        <p:spPr>
          <a:xfrm>
            <a:off x="384048" y="3959352"/>
            <a:ext cx="5577840" cy="2331720"/>
          </a:xfrm>
          <a:prstGeom prst="rect">
            <a:avLst/>
          </a:prstGeom>
          <a:solidFill>
            <a:srgbClr val="FFFFFF"/>
          </a:solidFill>
          <a:ln w="25400">
            <a:solidFill>
              <a:srgbClr val="B8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4048" y="3959352"/>
            <a:ext cx="457200" cy="2331720"/>
          </a:xfrm>
          <a:prstGeom prst="rect">
            <a:avLst/>
          </a:prstGeom>
          <a:solidFill>
            <a:srgbClr val="B8D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4048" y="3959352"/>
            <a:ext cx="5577840" cy="475488"/>
          </a:xfrm>
          <a:prstGeom prst="rect">
            <a:avLst/>
          </a:prstGeom>
          <a:solidFill>
            <a:srgbClr val="B8D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032504"/>
            <a:ext cx="365760" cy="347472"/>
          </a:xfrm>
          <a:prstGeom prst="rect">
            <a:avLst/>
          </a:prstGeom>
          <a:noFill/>
        </p:spPr>
        <p:txBody>
          <a:bodyPr wrap="square">
            <a:spAutoFit/>
          </a:bodyPr>
          <a:lstStyle/>
          <a:p>
            <a:pPr algn="ctr"/>
            <a:r>
              <a:rPr sz="2000" b="1" i="0">
                <a:solidFill>
                  <a:srgbClr val="3D908A"/>
                </a:solidFill>
              </a:rPr>
              <a:t>3</a:t>
            </a:r>
          </a:p>
        </p:txBody>
      </p:sp>
      <p:sp>
        <p:nvSpPr>
          <p:cNvPr id="23" name="TextBox 22"/>
          <p:cNvSpPr txBox="1"/>
          <p:nvPr/>
        </p:nvSpPr>
        <p:spPr>
          <a:xfrm>
            <a:off x="950976" y="4050791"/>
            <a:ext cx="4846320" cy="347472"/>
          </a:xfrm>
          <a:prstGeom prst="rect">
            <a:avLst/>
          </a:prstGeom>
          <a:noFill/>
        </p:spPr>
        <p:txBody>
          <a:bodyPr wrap="square">
            <a:spAutoFit/>
          </a:bodyPr>
          <a:lstStyle/>
          <a:p>
            <a:pPr algn="l"/>
            <a:r>
              <a:rPr sz="1400" b="1" i="0">
                <a:solidFill>
                  <a:srgbClr val="3D908A"/>
                </a:solidFill>
              </a:rPr>
              <a:t>Primer removal</a:t>
            </a:r>
          </a:p>
        </p:txBody>
      </p:sp>
      <p:sp>
        <p:nvSpPr>
          <p:cNvPr id="24" name="TextBox 23"/>
          <p:cNvSpPr txBox="1"/>
          <p:nvPr/>
        </p:nvSpPr>
        <p:spPr>
          <a:xfrm>
            <a:off x="950976" y="4507992"/>
            <a:ext cx="4846320" cy="1664208"/>
          </a:xfrm>
          <a:prstGeom prst="rect">
            <a:avLst/>
          </a:prstGeom>
          <a:noFill/>
        </p:spPr>
        <p:txBody>
          <a:bodyPr wrap="square">
            <a:spAutoFit/>
          </a:bodyPr>
          <a:lstStyle/>
          <a:p>
            <a:pPr algn="l"/>
            <a:r>
              <a:rPr sz="1200" b="0" i="0">
                <a:solidFill>
                  <a:srgbClr val="1E3A4A"/>
                </a:solidFill>
              </a:rPr>
              <a:t>PCR primers are attached to every read — they are not
biological signal. We strip them before any analysis
so they don't distort the results.</a:t>
            </a:r>
          </a:p>
        </p:txBody>
      </p:sp>
      <p:sp>
        <p:nvSpPr>
          <p:cNvPr id="25" name="Rectangle 24"/>
          <p:cNvSpPr/>
          <p:nvPr/>
        </p:nvSpPr>
        <p:spPr>
          <a:xfrm>
            <a:off x="6281928" y="3959352"/>
            <a:ext cx="5577840" cy="2331720"/>
          </a:xfrm>
          <a:prstGeom prst="rect">
            <a:avLst/>
          </a:prstGeom>
          <a:solidFill>
            <a:srgbClr val="FFFFFF"/>
          </a:solidFill>
          <a:ln w="25400">
            <a:solidFill>
              <a:srgbClr val="C3E6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81928" y="3959352"/>
            <a:ext cx="457200" cy="2331720"/>
          </a:xfrm>
          <a:prstGeom prst="rect">
            <a:avLst/>
          </a:prstGeom>
          <a:solidFill>
            <a:srgbClr val="C3E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81928" y="3959352"/>
            <a:ext cx="5577840" cy="475488"/>
          </a:xfrm>
          <a:prstGeom prst="rect">
            <a:avLst/>
          </a:prstGeom>
          <a:solidFill>
            <a:srgbClr val="C3E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4032504"/>
            <a:ext cx="365760" cy="347472"/>
          </a:xfrm>
          <a:prstGeom prst="rect">
            <a:avLst/>
          </a:prstGeom>
          <a:noFill/>
        </p:spPr>
        <p:txBody>
          <a:bodyPr wrap="square">
            <a:spAutoFit/>
          </a:bodyPr>
          <a:lstStyle/>
          <a:p>
            <a:pPr algn="ctr"/>
            <a:r>
              <a:rPr sz="2000" b="1" i="0">
                <a:solidFill>
                  <a:srgbClr val="4F9A60"/>
                </a:solidFill>
              </a:rPr>
              <a:t>4</a:t>
            </a:r>
          </a:p>
        </p:txBody>
      </p:sp>
      <p:sp>
        <p:nvSpPr>
          <p:cNvPr id="29" name="TextBox 28"/>
          <p:cNvSpPr txBox="1"/>
          <p:nvPr/>
        </p:nvSpPr>
        <p:spPr>
          <a:xfrm>
            <a:off x="6848856" y="4050791"/>
            <a:ext cx="4846320" cy="347472"/>
          </a:xfrm>
          <a:prstGeom prst="rect">
            <a:avLst/>
          </a:prstGeom>
          <a:noFill/>
        </p:spPr>
        <p:txBody>
          <a:bodyPr wrap="square">
            <a:spAutoFit/>
          </a:bodyPr>
          <a:lstStyle/>
          <a:p>
            <a:pPr algn="l"/>
            <a:r>
              <a:rPr sz="1400" b="1" i="0">
                <a:solidFill>
                  <a:srgbClr val="4F9A60"/>
                </a:solidFill>
              </a:rPr>
              <a:t>Error correction → ASVs</a:t>
            </a:r>
          </a:p>
        </p:txBody>
      </p:sp>
      <p:sp>
        <p:nvSpPr>
          <p:cNvPr id="30" name="TextBox 29"/>
          <p:cNvSpPr txBox="1"/>
          <p:nvPr/>
        </p:nvSpPr>
        <p:spPr>
          <a:xfrm>
            <a:off x="6848856" y="4507992"/>
            <a:ext cx="4846320" cy="1664208"/>
          </a:xfrm>
          <a:prstGeom prst="rect">
            <a:avLst/>
          </a:prstGeom>
          <a:noFill/>
        </p:spPr>
        <p:txBody>
          <a:bodyPr wrap="square">
            <a:spAutoFit/>
          </a:bodyPr>
          <a:lstStyle/>
          <a:p>
            <a:pPr algn="l"/>
            <a:r>
              <a:rPr sz="1200" b="0" i="0">
                <a:solidFill>
                  <a:srgbClr val="1E3A4A"/>
                </a:solidFill>
              </a:rPr>
              <a:t>Sequencers make mistakes. We build a statistical model
of errors from the data itself, then correct them.
The result: exact, unique sequences called ASVs.</a:t>
            </a:r>
          </a:p>
        </p:txBody>
      </p:sp>
      <p:sp>
        <p:nvSpPr>
          <p:cNvPr id="31" name="Rectangle 30"/>
          <p:cNvSpPr/>
          <p:nvPr/>
        </p:nvSpPr>
        <p:spPr>
          <a:xfrm>
            <a:off x="384048" y="6446520"/>
            <a:ext cx="11411712" cy="347472"/>
          </a:xfrm>
          <a:prstGeom prst="rect">
            <a:avLst/>
          </a:prstGeom>
          <a:solidFill>
            <a:srgbClr val="F5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492240"/>
            <a:ext cx="10972800" cy="256032"/>
          </a:xfrm>
          <a:prstGeom prst="rect">
            <a:avLst/>
          </a:prstGeom>
          <a:noFill/>
        </p:spPr>
        <p:txBody>
          <a:bodyPr wrap="square">
            <a:spAutoFit/>
          </a:bodyPr>
          <a:lstStyle/>
          <a:p>
            <a:pPr algn="ctr"/>
            <a:r>
              <a:rPr sz="1100" b="0" i="1">
                <a:solidFill>
                  <a:srgbClr val="CB6B52"/>
                </a:solidFill>
              </a:rPr>
              <a:t>ASV  (Amplicon Sequence Variant)  —  an exact, unique biological sequence. More precise than the older OTU approach (97% clustering).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0" y="0"/>
            <a:ext cx="12188952" cy="12618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61872"/>
            <a:ext cx="12188952" cy="54864"/>
          </a:xfrm>
          <a:prstGeom prst="rect">
            <a:avLst/>
          </a:prstGeom>
          <a:solidFill>
            <a:srgbClr val="4A7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56032" cy="1261872"/>
          </a:xfrm>
          <a:prstGeom prst="rect">
            <a:avLst/>
          </a:prstGeom>
          <a:solidFill>
            <a:srgbClr val="4A7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91440"/>
            <a:ext cx="10972800" cy="658368"/>
          </a:xfrm>
          <a:prstGeom prst="rect">
            <a:avLst/>
          </a:prstGeom>
          <a:noFill/>
        </p:spPr>
        <p:txBody>
          <a:bodyPr wrap="square">
            <a:spAutoFit/>
          </a:bodyPr>
          <a:lstStyle/>
          <a:p>
            <a:pPr algn="l"/>
            <a:r>
              <a:rPr sz="3400" b="1" i="0">
                <a:solidFill>
                  <a:srgbClr val="1E3A4A"/>
                </a:solidFill>
              </a:rPr>
              <a:t>Measuring Diversity</a:t>
            </a:r>
          </a:p>
        </p:txBody>
      </p:sp>
      <p:sp>
        <p:nvSpPr>
          <p:cNvPr id="6" name="TextBox 5"/>
          <p:cNvSpPr txBox="1"/>
          <p:nvPr/>
        </p:nvSpPr>
        <p:spPr>
          <a:xfrm>
            <a:off x="384048" y="749808"/>
            <a:ext cx="10972800" cy="384048"/>
          </a:xfrm>
          <a:prstGeom prst="rect">
            <a:avLst/>
          </a:prstGeom>
          <a:noFill/>
        </p:spPr>
        <p:txBody>
          <a:bodyPr wrap="square">
            <a:spAutoFit/>
          </a:bodyPr>
          <a:lstStyle/>
          <a:p>
            <a:pPr algn="l"/>
            <a:r>
              <a:rPr sz="1500" b="0" i="1">
                <a:solidFill>
                  <a:srgbClr val="6E8494"/>
                </a:solidFill>
              </a:rPr>
              <a:t>How rich is each sample? How different are the communities from each other?</a:t>
            </a:r>
          </a:p>
        </p:txBody>
      </p:sp>
      <p:sp>
        <p:nvSpPr>
          <p:cNvPr id="7" name="Rectangle 6"/>
          <p:cNvSpPr/>
          <p:nvPr/>
        </p:nvSpPr>
        <p:spPr>
          <a:xfrm>
            <a:off x="384048" y="1444752"/>
            <a:ext cx="5440680" cy="3154680"/>
          </a:xfrm>
          <a:prstGeom prst="rect">
            <a:avLst/>
          </a:prstGeom>
          <a:solidFill>
            <a:srgbClr val="FFFFFF"/>
          </a:solidFill>
          <a:ln w="25400">
            <a:solidFill>
              <a:srgbClr val="BBD6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44752"/>
            <a:ext cx="5440680" cy="530352"/>
          </a:xfrm>
          <a:prstGeom prst="rect">
            <a:avLst/>
          </a:prstGeom>
          <a:solidFill>
            <a:srgbClr val="BBD6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499616"/>
            <a:ext cx="5029200" cy="384048"/>
          </a:xfrm>
          <a:prstGeom prst="rect">
            <a:avLst/>
          </a:prstGeom>
          <a:noFill/>
        </p:spPr>
        <p:txBody>
          <a:bodyPr wrap="square">
            <a:spAutoFit/>
          </a:bodyPr>
          <a:lstStyle/>
          <a:p>
            <a:pPr algn="l"/>
            <a:r>
              <a:rPr sz="1600" b="1" i="0">
                <a:solidFill>
                  <a:srgbClr val="4A7FA5"/>
                </a:solidFill>
              </a:rPr>
              <a:t>Alpha diversity  ·  Within a sample</a:t>
            </a:r>
          </a:p>
        </p:txBody>
      </p:sp>
      <p:sp>
        <p:nvSpPr>
          <p:cNvPr id="10" name="TextBox 9"/>
          <p:cNvSpPr txBox="1"/>
          <p:nvPr/>
        </p:nvSpPr>
        <p:spPr>
          <a:xfrm>
            <a:off x="566928" y="2084831"/>
            <a:ext cx="5074920" cy="2395728"/>
          </a:xfrm>
          <a:prstGeom prst="rect">
            <a:avLst/>
          </a:prstGeom>
          <a:noFill/>
        </p:spPr>
        <p:txBody>
          <a:bodyPr wrap="square">
            <a:spAutoFit/>
          </a:bodyPr>
          <a:lstStyle/>
          <a:p>
            <a:pPr algn="l"/>
            <a:r>
              <a:rPr sz="1300" b="0" i="0">
                <a:solidFill>
                  <a:srgbClr val="1E3A4A"/>
                </a:solidFill>
              </a:rPr>
              <a:t>How many different microbes are present in ONE sample?
We measure:
·  Richness — how many distinct types exist
·  Evenness — are they equally abundant, or does
   one type dominate?
·  Phylogenetic diversity — how evolutionarily
   spread out are they?</a:t>
            </a:r>
          </a:p>
        </p:txBody>
      </p:sp>
      <p:sp>
        <p:nvSpPr>
          <p:cNvPr id="11" name="Rectangle 10"/>
          <p:cNvSpPr/>
          <p:nvPr/>
        </p:nvSpPr>
        <p:spPr>
          <a:xfrm>
            <a:off x="6007608" y="1444752"/>
            <a:ext cx="5788152" cy="3154680"/>
          </a:xfrm>
          <a:prstGeom prst="rect">
            <a:avLst/>
          </a:prstGeom>
          <a:solidFill>
            <a:srgbClr val="FFFFFF"/>
          </a:solidFill>
          <a:ln w="25400">
            <a:solidFill>
              <a:srgbClr val="F5C8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07608" y="1444752"/>
            <a:ext cx="5788152" cy="530352"/>
          </a:xfrm>
          <a:prstGeom prst="rect">
            <a:avLst/>
          </a:prstGeom>
          <a:solidFill>
            <a:srgbClr val="F5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1499616"/>
            <a:ext cx="5394960" cy="384048"/>
          </a:xfrm>
          <a:prstGeom prst="rect">
            <a:avLst/>
          </a:prstGeom>
          <a:noFill/>
        </p:spPr>
        <p:txBody>
          <a:bodyPr wrap="square">
            <a:spAutoFit/>
          </a:bodyPr>
          <a:lstStyle/>
          <a:p>
            <a:pPr algn="l"/>
            <a:r>
              <a:rPr sz="1600" b="1" i="0">
                <a:solidFill>
                  <a:srgbClr val="CB6B52"/>
                </a:solidFill>
              </a:rPr>
              <a:t>Beta diversity  ·  Between samples</a:t>
            </a:r>
          </a:p>
        </p:txBody>
      </p:sp>
      <p:sp>
        <p:nvSpPr>
          <p:cNvPr id="14" name="TextBox 13"/>
          <p:cNvSpPr txBox="1"/>
          <p:nvPr/>
        </p:nvSpPr>
        <p:spPr>
          <a:xfrm>
            <a:off x="6190488" y="2084831"/>
            <a:ext cx="5394960" cy="2395728"/>
          </a:xfrm>
          <a:prstGeom prst="rect">
            <a:avLst/>
          </a:prstGeom>
          <a:noFill/>
        </p:spPr>
        <p:txBody>
          <a:bodyPr wrap="square">
            <a:spAutoFit/>
          </a:bodyPr>
          <a:lstStyle/>
          <a:p>
            <a:pPr algn="l"/>
            <a:r>
              <a:rPr sz="1300" b="0" i="0">
                <a:solidFill>
                  <a:srgbClr val="1E3A4A"/>
                </a:solidFill>
              </a:rPr>
              <a:t>How similar or different are two communities?
We compare all pairs of samples and project
them into a 2D plot (PCoA).
·  Samples close together share a similar
   microbial composition.
·  Samples far apart have distinct communities.
·  Groups that cluster = shared structure.</a:t>
            </a:r>
          </a:p>
        </p:txBody>
      </p:sp>
      <p:sp>
        <p:nvSpPr>
          <p:cNvPr id="15" name="Rectangle 14"/>
          <p:cNvSpPr/>
          <p:nvPr/>
        </p:nvSpPr>
        <p:spPr>
          <a:xfrm>
            <a:off x="384048" y="4681728"/>
            <a:ext cx="11411712" cy="1572768"/>
          </a:xfrm>
          <a:prstGeom prst="rect">
            <a:avLst/>
          </a:prstGeom>
          <a:solidFill>
            <a:srgbClr val="FFFFFF"/>
          </a:solidFill>
          <a:ln w="12700">
            <a:solidFill>
              <a:srgbClr val="E8ED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4048" y="4681728"/>
            <a:ext cx="256032" cy="1572768"/>
          </a:xfrm>
          <a:prstGeom prst="rect">
            <a:avLst/>
          </a:prstGeom>
          <a:solidFill>
            <a:srgbClr val="6E8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754880"/>
            <a:ext cx="3657600" cy="347472"/>
          </a:xfrm>
          <a:prstGeom prst="rect">
            <a:avLst/>
          </a:prstGeom>
          <a:noFill/>
        </p:spPr>
        <p:txBody>
          <a:bodyPr wrap="square">
            <a:spAutoFit/>
          </a:bodyPr>
          <a:lstStyle/>
          <a:p>
            <a:pPr algn="l"/>
            <a:r>
              <a:rPr sz="1400" b="1" i="0">
                <a:solidFill>
                  <a:srgbClr val="1E3A4A"/>
                </a:solidFill>
              </a:rPr>
              <a:t>Why rarefaction?</a:t>
            </a:r>
          </a:p>
        </p:txBody>
      </p:sp>
      <p:sp>
        <p:nvSpPr>
          <p:cNvPr id="18" name="TextBox 17"/>
          <p:cNvSpPr txBox="1"/>
          <p:nvPr/>
        </p:nvSpPr>
        <p:spPr>
          <a:xfrm>
            <a:off x="749808" y="5157216"/>
            <a:ext cx="10789920" cy="841248"/>
          </a:xfrm>
          <a:prstGeom prst="rect">
            <a:avLst/>
          </a:prstGeom>
          <a:noFill/>
        </p:spPr>
        <p:txBody>
          <a:bodyPr wrap="square">
            <a:spAutoFit/>
          </a:bodyPr>
          <a:lstStyle/>
          <a:p>
            <a:pPr algn="l"/>
            <a:r>
              <a:rPr sz="1300" b="0" i="0">
                <a:solidFill>
                  <a:srgbClr val="1E3A4A"/>
                </a:solidFill>
              </a:rPr>
              <a:t>Different samples often have different numbers of reads — not because of biology, but because of technical variation in sequencing.
To compare diversity fairly, we subsample all samples down to the same depth before computing any metrics.</a:t>
            </a:r>
          </a:p>
        </p:txBody>
      </p:sp>
      <p:sp>
        <p:nvSpPr>
          <p:cNvPr id="19" name="Rectangle 18"/>
          <p:cNvSpPr/>
          <p:nvPr/>
        </p:nvSpPr>
        <p:spPr>
          <a:xfrm>
            <a:off x="8686800" y="4754880"/>
            <a:ext cx="2926080" cy="1371600"/>
          </a:xfrm>
          <a:prstGeom prst="rect">
            <a:avLst/>
          </a:prstGeom>
          <a:solidFill>
            <a:srgbClr val="E8ED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4773168"/>
            <a:ext cx="2560320" cy="256032"/>
          </a:xfrm>
          <a:prstGeom prst="rect">
            <a:avLst/>
          </a:prstGeom>
          <a:noFill/>
        </p:spPr>
        <p:txBody>
          <a:bodyPr wrap="square">
            <a:spAutoFit/>
          </a:bodyPr>
          <a:lstStyle/>
          <a:p>
            <a:pPr algn="ctr"/>
            <a:r>
              <a:rPr sz="1000" b="0" i="1">
                <a:solidFill>
                  <a:srgbClr val="6E8494"/>
                </a:solidFill>
              </a:rPr>
              <a:t>PCoA plot</a:t>
            </a:r>
          </a:p>
        </p:txBody>
      </p:sp>
      <p:sp>
        <p:nvSpPr>
          <p:cNvPr id="21" name="Oval 20"/>
          <p:cNvSpPr/>
          <p:nvPr/>
        </p:nvSpPr>
        <p:spPr>
          <a:xfrm>
            <a:off x="8942832" y="5239512"/>
            <a:ext cx="219456" cy="219456"/>
          </a:xfrm>
          <a:prstGeom prst="ellipse">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171432" y="5541264"/>
            <a:ext cx="219456" cy="219456"/>
          </a:xfrm>
          <a:prstGeom prst="ellipse">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034272" y="5394960"/>
            <a:ext cx="219456" cy="219456"/>
          </a:xfrm>
          <a:prstGeom prst="ellipse">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14432" y="5513832"/>
            <a:ext cx="219456" cy="219456"/>
          </a:xfrm>
          <a:prstGeom prst="ellipse">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497312" y="5833872"/>
            <a:ext cx="219456" cy="219456"/>
          </a:xfrm>
          <a:prstGeom prst="ellipse">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360152" y="5330952"/>
            <a:ext cx="219456" cy="219456"/>
          </a:xfrm>
          <a:prstGeom prst="ellipse">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32520" y="5925312"/>
            <a:ext cx="2834640" cy="228600"/>
          </a:xfrm>
          <a:prstGeom prst="rect">
            <a:avLst/>
          </a:prstGeom>
          <a:noFill/>
        </p:spPr>
        <p:txBody>
          <a:bodyPr wrap="square">
            <a:spAutoFit/>
          </a:bodyPr>
          <a:lstStyle/>
          <a:p>
            <a:pPr algn="ctr"/>
            <a:r>
              <a:rPr sz="1000" b="0" i="0">
                <a:solidFill>
                  <a:srgbClr val="6E8494"/>
                </a:solidFill>
              </a:rPr>
              <a:t>● Group A  ● Group 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0" y="0"/>
            <a:ext cx="12188952" cy="12618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61872"/>
            <a:ext cx="12188952" cy="54864"/>
          </a:xfrm>
          <a:prstGeom prst="rect">
            <a:avLst/>
          </a:prstGeom>
          <a:solidFill>
            <a:srgbClr val="7B6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56032" cy="1261872"/>
          </a:xfrm>
          <a:prstGeom prst="rect">
            <a:avLst/>
          </a:prstGeom>
          <a:solidFill>
            <a:srgbClr val="7B6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91440"/>
            <a:ext cx="10972800" cy="658368"/>
          </a:xfrm>
          <a:prstGeom prst="rect">
            <a:avLst/>
          </a:prstGeom>
          <a:noFill/>
        </p:spPr>
        <p:txBody>
          <a:bodyPr wrap="square">
            <a:spAutoFit/>
          </a:bodyPr>
          <a:lstStyle/>
          <a:p>
            <a:pPr algn="l"/>
            <a:r>
              <a:rPr sz="3400" b="1" i="0">
                <a:solidFill>
                  <a:srgbClr val="1E3A4A"/>
                </a:solidFill>
              </a:rPr>
              <a:t>Putting Names to Sequences</a:t>
            </a:r>
          </a:p>
        </p:txBody>
      </p:sp>
      <p:sp>
        <p:nvSpPr>
          <p:cNvPr id="6" name="TextBox 5"/>
          <p:cNvSpPr txBox="1"/>
          <p:nvPr/>
        </p:nvSpPr>
        <p:spPr>
          <a:xfrm>
            <a:off x="384048" y="749808"/>
            <a:ext cx="10972800" cy="384048"/>
          </a:xfrm>
          <a:prstGeom prst="rect">
            <a:avLst/>
          </a:prstGeom>
          <a:noFill/>
        </p:spPr>
        <p:txBody>
          <a:bodyPr wrap="square">
            <a:spAutoFit/>
          </a:bodyPr>
          <a:lstStyle/>
          <a:p>
            <a:pPr algn="l"/>
            <a:r>
              <a:rPr sz="1500" b="0" i="1">
                <a:solidFill>
                  <a:srgbClr val="6E8494"/>
                </a:solidFill>
              </a:rPr>
              <a:t>Matching each unique sequence against a curated reference database</a:t>
            </a:r>
          </a:p>
        </p:txBody>
      </p:sp>
      <p:sp>
        <p:nvSpPr>
          <p:cNvPr id="7" name="Rectangle 6"/>
          <p:cNvSpPr/>
          <p:nvPr/>
        </p:nvSpPr>
        <p:spPr>
          <a:xfrm>
            <a:off x="502920" y="1481328"/>
            <a:ext cx="2606040" cy="1737360"/>
          </a:xfrm>
          <a:prstGeom prst="rect">
            <a:avLst/>
          </a:prstGeom>
          <a:solidFill>
            <a:srgbClr val="FFFFFF"/>
          </a:solidFill>
          <a:ln w="25400">
            <a:solidFill>
              <a:srgbClr val="D5C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81328"/>
            <a:ext cx="2606040" cy="530352"/>
          </a:xfrm>
          <a:prstGeom prst="rect">
            <a:avLst/>
          </a:prstGeom>
          <a:solidFill>
            <a:srgbClr val="D5CF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27048"/>
            <a:ext cx="2377440" cy="457200"/>
          </a:xfrm>
          <a:prstGeom prst="rect">
            <a:avLst/>
          </a:prstGeom>
          <a:noFill/>
        </p:spPr>
        <p:txBody>
          <a:bodyPr wrap="square">
            <a:spAutoFit/>
          </a:bodyPr>
          <a:lstStyle/>
          <a:p>
            <a:pPr algn="ctr"/>
            <a:r>
              <a:rPr sz="1400" b="1" i="0">
                <a:solidFill>
                  <a:srgbClr val="7B6EAA"/>
                </a:solidFill>
              </a:rPr>
              <a:t>Unique
sequences</a:t>
            </a:r>
          </a:p>
        </p:txBody>
      </p:sp>
      <p:sp>
        <p:nvSpPr>
          <p:cNvPr id="10" name="TextBox 9"/>
          <p:cNvSpPr txBox="1"/>
          <p:nvPr/>
        </p:nvSpPr>
        <p:spPr>
          <a:xfrm>
            <a:off x="612648" y="2084831"/>
            <a:ext cx="2377440" cy="1024128"/>
          </a:xfrm>
          <a:prstGeom prst="rect">
            <a:avLst/>
          </a:prstGeom>
          <a:noFill/>
        </p:spPr>
        <p:txBody>
          <a:bodyPr wrap="square">
            <a:spAutoFit/>
          </a:bodyPr>
          <a:lstStyle/>
          <a:p>
            <a:pPr algn="ctr"/>
            <a:r>
              <a:rPr sz="1200" b="0" i="0">
                <a:solidFill>
                  <a:srgbClr val="1E3A4A"/>
                </a:solidFill>
              </a:rPr>
              <a:t>Every distinct sequence
from our samples</a:t>
            </a:r>
          </a:p>
        </p:txBody>
      </p:sp>
      <p:cxnSp>
        <p:nvCxnSpPr>
          <p:cNvPr id="11" name="Connector 10"/>
          <p:cNvCxnSpPr/>
          <p:nvPr/>
        </p:nvCxnSpPr>
        <p:spPr>
          <a:xfrm>
            <a:off x="3108960" y="2304288"/>
            <a:ext cx="320040" cy="0"/>
          </a:xfrm>
          <a:prstGeom prst="line">
            <a:avLst/>
          </a:prstGeom>
          <a:ln w="25400">
            <a:solidFill>
              <a:srgbClr val="7B6EAA"/>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429000" y="1481328"/>
            <a:ext cx="2606040" cy="1737360"/>
          </a:xfrm>
          <a:prstGeom prst="rect">
            <a:avLst/>
          </a:prstGeom>
          <a:solidFill>
            <a:srgbClr val="FFFFFF"/>
          </a:solidFill>
          <a:ln w="25400">
            <a:solidFill>
              <a:srgbClr val="BBD6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1481328"/>
            <a:ext cx="2606040" cy="530352"/>
          </a:xfrm>
          <a:prstGeom prst="rect">
            <a:avLst/>
          </a:prstGeom>
          <a:solidFill>
            <a:srgbClr val="BBD6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8728" y="1527048"/>
            <a:ext cx="2377440" cy="457200"/>
          </a:xfrm>
          <a:prstGeom prst="rect">
            <a:avLst/>
          </a:prstGeom>
          <a:noFill/>
        </p:spPr>
        <p:txBody>
          <a:bodyPr wrap="square">
            <a:spAutoFit/>
          </a:bodyPr>
          <a:lstStyle/>
          <a:p>
            <a:pPr algn="ctr"/>
            <a:r>
              <a:rPr sz="1400" b="1" i="0">
                <a:solidFill>
                  <a:srgbClr val="4A7FA5"/>
                </a:solidFill>
              </a:rPr>
              <a:t>Reference
database</a:t>
            </a:r>
          </a:p>
        </p:txBody>
      </p:sp>
      <p:sp>
        <p:nvSpPr>
          <p:cNvPr id="15" name="TextBox 14"/>
          <p:cNvSpPr txBox="1"/>
          <p:nvPr/>
        </p:nvSpPr>
        <p:spPr>
          <a:xfrm>
            <a:off x="3538728" y="2084831"/>
            <a:ext cx="2377440" cy="1024128"/>
          </a:xfrm>
          <a:prstGeom prst="rect">
            <a:avLst/>
          </a:prstGeom>
          <a:noFill/>
        </p:spPr>
        <p:txBody>
          <a:bodyPr wrap="square">
            <a:spAutoFit/>
          </a:bodyPr>
          <a:lstStyle/>
          <a:p>
            <a:pPr algn="ctr"/>
            <a:r>
              <a:rPr sz="1200" b="0" i="0">
                <a:solidFill>
                  <a:srgbClr val="1E3A4A"/>
                </a:solidFill>
              </a:rPr>
              <a:t>Hundreds of thousands
of known sequences</a:t>
            </a:r>
          </a:p>
        </p:txBody>
      </p:sp>
      <p:cxnSp>
        <p:nvCxnSpPr>
          <p:cNvPr id="16" name="Connector 15"/>
          <p:cNvCxnSpPr/>
          <p:nvPr/>
        </p:nvCxnSpPr>
        <p:spPr>
          <a:xfrm>
            <a:off x="6035040" y="2304288"/>
            <a:ext cx="320040" cy="0"/>
          </a:xfrm>
          <a:prstGeom prst="line">
            <a:avLst/>
          </a:prstGeom>
          <a:ln w="25400">
            <a:solidFill>
              <a:srgbClr val="4A7FA5"/>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6355080" y="1481328"/>
            <a:ext cx="2606040" cy="1737360"/>
          </a:xfrm>
          <a:prstGeom prst="rect">
            <a:avLst/>
          </a:prstGeom>
          <a:solidFill>
            <a:srgbClr val="FFFFFF"/>
          </a:solidFill>
          <a:ln w="25400">
            <a:solidFill>
              <a:srgbClr val="B8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5080" y="1481328"/>
            <a:ext cx="2606040" cy="530352"/>
          </a:xfrm>
          <a:prstGeom prst="rect">
            <a:avLst/>
          </a:prstGeom>
          <a:solidFill>
            <a:srgbClr val="B8D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1527048"/>
            <a:ext cx="2377440" cy="457200"/>
          </a:xfrm>
          <a:prstGeom prst="rect">
            <a:avLst/>
          </a:prstGeom>
          <a:noFill/>
        </p:spPr>
        <p:txBody>
          <a:bodyPr wrap="square">
            <a:spAutoFit/>
          </a:bodyPr>
          <a:lstStyle/>
          <a:p>
            <a:pPr algn="ctr"/>
            <a:r>
              <a:rPr sz="1400" b="1" i="0">
                <a:solidFill>
                  <a:srgbClr val="3D908A"/>
                </a:solidFill>
              </a:rPr>
              <a:t>Matching
algorithm</a:t>
            </a:r>
          </a:p>
        </p:txBody>
      </p:sp>
      <p:sp>
        <p:nvSpPr>
          <p:cNvPr id="20" name="TextBox 19"/>
          <p:cNvSpPr txBox="1"/>
          <p:nvPr/>
        </p:nvSpPr>
        <p:spPr>
          <a:xfrm>
            <a:off x="6464808" y="2084831"/>
            <a:ext cx="2377440" cy="1024128"/>
          </a:xfrm>
          <a:prstGeom prst="rect">
            <a:avLst/>
          </a:prstGeom>
          <a:noFill/>
        </p:spPr>
        <p:txBody>
          <a:bodyPr wrap="square">
            <a:spAutoFit/>
          </a:bodyPr>
          <a:lstStyle/>
          <a:p>
            <a:pPr algn="ctr"/>
            <a:r>
              <a:rPr sz="1200" b="0" i="0">
                <a:solidFill>
                  <a:srgbClr val="1E3A4A"/>
                </a:solidFill>
              </a:rPr>
              <a:t>Statistical classifier
finds best match</a:t>
            </a:r>
          </a:p>
        </p:txBody>
      </p:sp>
      <p:cxnSp>
        <p:nvCxnSpPr>
          <p:cNvPr id="21" name="Connector 20"/>
          <p:cNvCxnSpPr/>
          <p:nvPr/>
        </p:nvCxnSpPr>
        <p:spPr>
          <a:xfrm>
            <a:off x="8961120" y="2304288"/>
            <a:ext cx="320040" cy="0"/>
          </a:xfrm>
          <a:prstGeom prst="line">
            <a:avLst/>
          </a:prstGeom>
          <a:ln w="25400">
            <a:solidFill>
              <a:srgbClr val="3D908A"/>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9281160" y="1481328"/>
            <a:ext cx="2606040" cy="1737360"/>
          </a:xfrm>
          <a:prstGeom prst="rect">
            <a:avLst/>
          </a:prstGeom>
          <a:solidFill>
            <a:srgbClr val="FFFFFF"/>
          </a:solidFill>
          <a:ln w="25400">
            <a:solidFill>
              <a:srgbClr val="C3E6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81160" y="1481328"/>
            <a:ext cx="2606040" cy="530352"/>
          </a:xfrm>
          <a:prstGeom prst="rect">
            <a:avLst/>
          </a:prstGeom>
          <a:solidFill>
            <a:srgbClr val="C3E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90888" y="1527048"/>
            <a:ext cx="2377440" cy="457200"/>
          </a:xfrm>
          <a:prstGeom prst="rect">
            <a:avLst/>
          </a:prstGeom>
          <a:noFill/>
        </p:spPr>
        <p:txBody>
          <a:bodyPr wrap="square">
            <a:spAutoFit/>
          </a:bodyPr>
          <a:lstStyle/>
          <a:p>
            <a:pPr algn="ctr"/>
            <a:r>
              <a:rPr sz="1400" b="1" i="0">
                <a:solidFill>
                  <a:srgbClr val="4F9A60"/>
                </a:solidFill>
              </a:rPr>
              <a:t>Taxonomic
label</a:t>
            </a:r>
          </a:p>
        </p:txBody>
      </p:sp>
      <p:sp>
        <p:nvSpPr>
          <p:cNvPr id="25" name="TextBox 24"/>
          <p:cNvSpPr txBox="1"/>
          <p:nvPr/>
        </p:nvSpPr>
        <p:spPr>
          <a:xfrm>
            <a:off x="9390888" y="2084831"/>
            <a:ext cx="2377440" cy="1024128"/>
          </a:xfrm>
          <a:prstGeom prst="rect">
            <a:avLst/>
          </a:prstGeom>
          <a:noFill/>
        </p:spPr>
        <p:txBody>
          <a:bodyPr wrap="square">
            <a:spAutoFit/>
          </a:bodyPr>
          <a:lstStyle/>
          <a:p>
            <a:pPr algn="ctr"/>
            <a:r>
              <a:rPr sz="1200" b="0" i="0">
                <a:solidFill>
                  <a:srgbClr val="1E3A4A"/>
                </a:solidFill>
              </a:rPr>
              <a:t>Domain → Phylum → Class
→ Order → Family → Genus</a:t>
            </a:r>
          </a:p>
        </p:txBody>
      </p:sp>
      <p:sp>
        <p:nvSpPr>
          <p:cNvPr id="26" name="Rectangle 25"/>
          <p:cNvSpPr/>
          <p:nvPr/>
        </p:nvSpPr>
        <p:spPr>
          <a:xfrm>
            <a:off x="384048" y="3401568"/>
            <a:ext cx="11411712" cy="2377440"/>
          </a:xfrm>
          <a:prstGeom prst="rect">
            <a:avLst/>
          </a:prstGeom>
          <a:solidFill>
            <a:srgbClr val="FFFFFF"/>
          </a:solidFill>
          <a:ln w="19050">
            <a:solidFill>
              <a:srgbClr val="D5C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4048" y="3401568"/>
            <a:ext cx="256032" cy="2377440"/>
          </a:xfrm>
          <a:prstGeom prst="rect">
            <a:avLst/>
          </a:prstGeom>
          <a:solidFill>
            <a:srgbClr val="7B6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3474720"/>
            <a:ext cx="5486400" cy="384048"/>
          </a:xfrm>
          <a:prstGeom prst="rect">
            <a:avLst/>
          </a:prstGeom>
          <a:noFill/>
        </p:spPr>
        <p:txBody>
          <a:bodyPr wrap="square">
            <a:spAutoFit/>
          </a:bodyPr>
          <a:lstStyle/>
          <a:p>
            <a:pPr algn="l"/>
            <a:r>
              <a:rPr sz="1600" b="1" i="0">
                <a:solidFill>
                  <a:srgbClr val="7B6EAA"/>
                </a:solidFill>
              </a:rPr>
              <a:t>Relative abundance barplot</a:t>
            </a:r>
          </a:p>
        </p:txBody>
      </p:sp>
      <p:sp>
        <p:nvSpPr>
          <p:cNvPr id="29" name="TextBox 28"/>
          <p:cNvSpPr txBox="1"/>
          <p:nvPr/>
        </p:nvSpPr>
        <p:spPr>
          <a:xfrm>
            <a:off x="749808" y="3950208"/>
            <a:ext cx="6858000" cy="1645920"/>
          </a:xfrm>
          <a:prstGeom prst="rect">
            <a:avLst/>
          </a:prstGeom>
          <a:noFill/>
        </p:spPr>
        <p:txBody>
          <a:bodyPr wrap="square">
            <a:spAutoFit/>
          </a:bodyPr>
          <a:lstStyle/>
          <a:p>
            <a:pPr algn="l"/>
            <a:r>
              <a:rPr sz="1300" b="0" i="0">
                <a:solidFill>
                  <a:srgbClr val="1E3A4A"/>
                </a:solidFill>
              </a:rPr>
              <a:t>Once every sequence has a name, we can visualize the composition
of each sample as a stacked bar — showing what fraction of the
community belongs to each group at any taxonomic level.</a:t>
            </a:r>
          </a:p>
        </p:txBody>
      </p:sp>
      <p:sp>
        <p:nvSpPr>
          <p:cNvPr id="30" name="Rectangle 29"/>
          <p:cNvSpPr/>
          <p:nvPr/>
        </p:nvSpPr>
        <p:spPr>
          <a:xfrm>
            <a:off x="7863840" y="3493008"/>
            <a:ext cx="4206240" cy="2148840"/>
          </a:xfrm>
          <a:prstGeom prst="rect">
            <a:avLst/>
          </a:prstGeom>
          <a:solidFill>
            <a:srgbClr val="E8ED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6719" y="4665726"/>
            <a:ext cx="868680" cy="720090"/>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46719" y="4345686"/>
            <a:ext cx="868680" cy="320040"/>
          </a:xfrm>
          <a:prstGeom prst="rect">
            <a:avLst/>
          </a:prstGeom>
          <a:solidFill>
            <a:srgbClr val="4A7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6719" y="4105655"/>
            <a:ext cx="868680" cy="240030"/>
          </a:xfrm>
          <a:prstGeom prst="rect">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46719" y="3945635"/>
            <a:ext cx="868680" cy="160020"/>
          </a:xfrm>
          <a:prstGeom prst="rect">
            <a:avLst/>
          </a:prstGeom>
          <a:solidFill>
            <a:srgbClr val="7B6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6719" y="3785615"/>
            <a:ext cx="868680" cy="160020"/>
          </a:xfrm>
          <a:prstGeom prst="rect">
            <a:avLst/>
          </a:prstGeom>
          <a:solidFill>
            <a:srgbClr val="4F9A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81159" y="4985766"/>
            <a:ext cx="868680" cy="400050"/>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281159" y="4425696"/>
            <a:ext cx="868680" cy="560069"/>
          </a:xfrm>
          <a:prstGeom prst="rect">
            <a:avLst/>
          </a:prstGeom>
          <a:solidFill>
            <a:srgbClr val="4A7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281159" y="4105656"/>
            <a:ext cx="868680" cy="320040"/>
          </a:xfrm>
          <a:prstGeom prst="rect">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281159" y="3913631"/>
            <a:ext cx="868680" cy="192024"/>
          </a:xfrm>
          <a:prstGeom prst="rect">
            <a:avLst/>
          </a:prstGeom>
          <a:solidFill>
            <a:srgbClr val="7B6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281159" y="3785615"/>
            <a:ext cx="868680" cy="128016"/>
          </a:xfrm>
          <a:prstGeom prst="rect">
            <a:avLst/>
          </a:prstGeom>
          <a:solidFill>
            <a:srgbClr val="4F9A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515600" y="4425696"/>
            <a:ext cx="868680" cy="960120"/>
          </a:xfrm>
          <a:prstGeom prst="rect">
            <a:avLst/>
          </a:prstGeom>
          <a:solidFill>
            <a:srgbClr val="3D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515600" y="4265675"/>
            <a:ext cx="868680" cy="160020"/>
          </a:xfrm>
          <a:prstGeom prst="rect">
            <a:avLst/>
          </a:prstGeom>
          <a:solidFill>
            <a:srgbClr val="4A7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515600" y="3977639"/>
            <a:ext cx="868680" cy="288036"/>
          </a:xfrm>
          <a:prstGeom prst="rect">
            <a:avLst/>
          </a:prstGeom>
          <a:solidFill>
            <a:srgbClr val="CB6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515600" y="3865626"/>
            <a:ext cx="868680" cy="112014"/>
          </a:xfrm>
          <a:prstGeom prst="rect">
            <a:avLst/>
          </a:prstGeom>
          <a:solidFill>
            <a:srgbClr val="7B6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515600" y="3785615"/>
            <a:ext cx="868680" cy="80010"/>
          </a:xfrm>
          <a:prstGeom prst="rect">
            <a:avLst/>
          </a:prstGeom>
          <a:solidFill>
            <a:srgbClr val="4F9A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9" y="5431536"/>
            <a:ext cx="868680" cy="228600"/>
          </a:xfrm>
          <a:prstGeom prst="rect">
            <a:avLst/>
          </a:prstGeom>
          <a:noFill/>
        </p:spPr>
        <p:txBody>
          <a:bodyPr wrap="square">
            <a:spAutoFit/>
          </a:bodyPr>
          <a:lstStyle/>
          <a:p>
            <a:pPr algn="ctr"/>
            <a:r>
              <a:rPr sz="900" b="0" i="0">
                <a:solidFill>
                  <a:srgbClr val="1E3A4A"/>
                </a:solidFill>
              </a:rPr>
              <a:t>Sample 1</a:t>
            </a:r>
          </a:p>
        </p:txBody>
      </p:sp>
      <p:sp>
        <p:nvSpPr>
          <p:cNvPr id="47" name="TextBox 46"/>
          <p:cNvSpPr txBox="1"/>
          <p:nvPr/>
        </p:nvSpPr>
        <p:spPr>
          <a:xfrm>
            <a:off x="9281159" y="5431536"/>
            <a:ext cx="868680" cy="228600"/>
          </a:xfrm>
          <a:prstGeom prst="rect">
            <a:avLst/>
          </a:prstGeom>
          <a:noFill/>
        </p:spPr>
        <p:txBody>
          <a:bodyPr wrap="square">
            <a:spAutoFit/>
          </a:bodyPr>
          <a:lstStyle/>
          <a:p>
            <a:pPr algn="ctr"/>
            <a:r>
              <a:rPr sz="900" b="0" i="0">
                <a:solidFill>
                  <a:srgbClr val="1E3A4A"/>
                </a:solidFill>
              </a:rPr>
              <a:t>Sample 2</a:t>
            </a:r>
          </a:p>
        </p:txBody>
      </p:sp>
      <p:sp>
        <p:nvSpPr>
          <p:cNvPr id="48" name="TextBox 47"/>
          <p:cNvSpPr txBox="1"/>
          <p:nvPr/>
        </p:nvSpPr>
        <p:spPr>
          <a:xfrm>
            <a:off x="10515600" y="5431536"/>
            <a:ext cx="868680" cy="228600"/>
          </a:xfrm>
          <a:prstGeom prst="rect">
            <a:avLst/>
          </a:prstGeom>
          <a:noFill/>
        </p:spPr>
        <p:txBody>
          <a:bodyPr wrap="square">
            <a:spAutoFit/>
          </a:bodyPr>
          <a:lstStyle/>
          <a:p>
            <a:pPr algn="ctr"/>
            <a:r>
              <a:rPr sz="900" b="0" i="0">
                <a:solidFill>
                  <a:srgbClr val="1E3A4A"/>
                </a:solidFill>
              </a:rPr>
              <a:t>Sample 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Rectangle 1"/>
          <p:cNvSpPr/>
          <p:nvPr/>
        </p:nvSpPr>
        <p:spPr>
          <a:xfrm>
            <a:off x="0" y="0"/>
            <a:ext cx="12188952" cy="12618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61872"/>
            <a:ext cx="12188952" cy="54864"/>
          </a:xfrm>
          <a:prstGeom prst="rect">
            <a:avLst/>
          </a:prstGeom>
          <a:solidFill>
            <a:srgbClr val="4F9A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56032" cy="1261872"/>
          </a:xfrm>
          <a:prstGeom prst="rect">
            <a:avLst/>
          </a:prstGeom>
          <a:solidFill>
            <a:srgbClr val="4F9A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91440"/>
            <a:ext cx="10972800" cy="658368"/>
          </a:xfrm>
          <a:prstGeom prst="rect">
            <a:avLst/>
          </a:prstGeom>
          <a:noFill/>
        </p:spPr>
        <p:txBody>
          <a:bodyPr wrap="square">
            <a:spAutoFit/>
          </a:bodyPr>
          <a:lstStyle/>
          <a:p>
            <a:pPr algn="l"/>
            <a:r>
              <a:rPr sz="3400" b="1" i="0">
                <a:solidFill>
                  <a:srgbClr val="1E3A4A"/>
                </a:solidFill>
              </a:rPr>
              <a:t>What We Learn</a:t>
            </a:r>
          </a:p>
        </p:txBody>
      </p:sp>
      <p:sp>
        <p:nvSpPr>
          <p:cNvPr id="6" name="TextBox 5"/>
          <p:cNvSpPr txBox="1"/>
          <p:nvPr/>
        </p:nvSpPr>
        <p:spPr>
          <a:xfrm>
            <a:off x="384048" y="749808"/>
            <a:ext cx="10972800" cy="384048"/>
          </a:xfrm>
          <a:prstGeom prst="rect">
            <a:avLst/>
          </a:prstGeom>
          <a:noFill/>
        </p:spPr>
        <p:txBody>
          <a:bodyPr wrap="square">
            <a:spAutoFit/>
          </a:bodyPr>
          <a:lstStyle/>
          <a:p>
            <a:pPr algn="l"/>
            <a:r>
              <a:rPr sz="1500" b="0" i="1">
                <a:solidFill>
                  <a:srgbClr val="6E8494"/>
                </a:solidFill>
              </a:rPr>
              <a:t>From sequences to biological insight</a:t>
            </a:r>
          </a:p>
        </p:txBody>
      </p:sp>
      <p:sp>
        <p:nvSpPr>
          <p:cNvPr id="7" name="Rectangle 6"/>
          <p:cNvSpPr/>
          <p:nvPr/>
        </p:nvSpPr>
        <p:spPr>
          <a:xfrm>
            <a:off x="384048" y="1481328"/>
            <a:ext cx="3703320" cy="2286000"/>
          </a:xfrm>
          <a:prstGeom prst="rect">
            <a:avLst/>
          </a:prstGeom>
          <a:solidFill>
            <a:srgbClr val="FFFFFF"/>
          </a:solidFill>
          <a:ln w="25400">
            <a:solidFill>
              <a:srgbClr val="B8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481328"/>
            <a:ext cx="3703320" cy="502920"/>
          </a:xfrm>
          <a:prstGeom prst="rect">
            <a:avLst/>
          </a:prstGeom>
          <a:solidFill>
            <a:srgbClr val="B8D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 y="1572768"/>
            <a:ext cx="3429000" cy="347472"/>
          </a:xfrm>
          <a:prstGeom prst="rect">
            <a:avLst/>
          </a:prstGeom>
          <a:noFill/>
        </p:spPr>
        <p:txBody>
          <a:bodyPr wrap="square">
            <a:spAutoFit/>
          </a:bodyPr>
          <a:lstStyle/>
          <a:p>
            <a:pPr algn="l"/>
            <a:r>
              <a:rPr sz="1400" b="1" i="0">
                <a:solidFill>
                  <a:srgbClr val="3D908A"/>
                </a:solidFill>
              </a:rPr>
              <a:t>Community composition</a:t>
            </a:r>
          </a:p>
        </p:txBody>
      </p:sp>
      <p:sp>
        <p:nvSpPr>
          <p:cNvPr id="10" name="TextBox 9"/>
          <p:cNvSpPr txBox="1"/>
          <p:nvPr/>
        </p:nvSpPr>
        <p:spPr>
          <a:xfrm>
            <a:off x="512064" y="2075688"/>
            <a:ext cx="3429000" cy="1572768"/>
          </a:xfrm>
          <a:prstGeom prst="rect">
            <a:avLst/>
          </a:prstGeom>
          <a:noFill/>
        </p:spPr>
        <p:txBody>
          <a:bodyPr wrap="square">
            <a:spAutoFit/>
          </a:bodyPr>
          <a:lstStyle/>
          <a:p>
            <a:pPr algn="l"/>
            <a:r>
              <a:rPr sz="1300" b="0" i="0">
                <a:solidFill>
                  <a:srgbClr val="1E3A4A"/>
                </a:solidFill>
              </a:rPr>
              <a:t>Which microbes are present and in what proportions
— at every taxonomic level from phylum to genus.</a:t>
            </a:r>
          </a:p>
        </p:txBody>
      </p:sp>
      <p:sp>
        <p:nvSpPr>
          <p:cNvPr id="11" name="Rectangle 10"/>
          <p:cNvSpPr/>
          <p:nvPr/>
        </p:nvSpPr>
        <p:spPr>
          <a:xfrm>
            <a:off x="4334256" y="1481328"/>
            <a:ext cx="3703320" cy="2286000"/>
          </a:xfrm>
          <a:prstGeom prst="rect">
            <a:avLst/>
          </a:prstGeom>
          <a:solidFill>
            <a:srgbClr val="FFFFFF"/>
          </a:solidFill>
          <a:ln w="25400">
            <a:solidFill>
              <a:srgbClr val="BBD6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34256" y="1481328"/>
            <a:ext cx="3703320" cy="502920"/>
          </a:xfrm>
          <a:prstGeom prst="rect">
            <a:avLst/>
          </a:prstGeom>
          <a:solidFill>
            <a:srgbClr val="BBD6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1572768"/>
            <a:ext cx="3429000" cy="347472"/>
          </a:xfrm>
          <a:prstGeom prst="rect">
            <a:avLst/>
          </a:prstGeom>
          <a:noFill/>
        </p:spPr>
        <p:txBody>
          <a:bodyPr wrap="square">
            <a:spAutoFit/>
          </a:bodyPr>
          <a:lstStyle/>
          <a:p>
            <a:pPr algn="l"/>
            <a:r>
              <a:rPr sz="1400" b="1" i="0">
                <a:solidFill>
                  <a:srgbClr val="4A7FA5"/>
                </a:solidFill>
              </a:rPr>
              <a:t>Within-sample diversity</a:t>
            </a:r>
          </a:p>
        </p:txBody>
      </p:sp>
      <p:sp>
        <p:nvSpPr>
          <p:cNvPr id="14" name="TextBox 13"/>
          <p:cNvSpPr txBox="1"/>
          <p:nvPr/>
        </p:nvSpPr>
        <p:spPr>
          <a:xfrm>
            <a:off x="4462272" y="2075688"/>
            <a:ext cx="3429000" cy="1572768"/>
          </a:xfrm>
          <a:prstGeom prst="rect">
            <a:avLst/>
          </a:prstGeom>
          <a:noFill/>
        </p:spPr>
        <p:txBody>
          <a:bodyPr wrap="square">
            <a:spAutoFit/>
          </a:bodyPr>
          <a:lstStyle/>
          <a:p>
            <a:pPr algn="l"/>
            <a:r>
              <a:rPr sz="1300" b="0" i="0">
                <a:solidFill>
                  <a:srgbClr val="1E3A4A"/>
                </a:solidFill>
              </a:rPr>
              <a:t>How rich and even is each sample? Is one condition
associated with higher or lower microbial diversity?</a:t>
            </a:r>
          </a:p>
        </p:txBody>
      </p:sp>
      <p:sp>
        <p:nvSpPr>
          <p:cNvPr id="15" name="Rectangle 14"/>
          <p:cNvSpPr/>
          <p:nvPr/>
        </p:nvSpPr>
        <p:spPr>
          <a:xfrm>
            <a:off x="8284464" y="1481328"/>
            <a:ext cx="3703320" cy="2286000"/>
          </a:xfrm>
          <a:prstGeom prst="rect">
            <a:avLst/>
          </a:prstGeom>
          <a:solidFill>
            <a:srgbClr val="FFFFFF"/>
          </a:solidFill>
          <a:ln w="25400">
            <a:solidFill>
              <a:srgbClr val="F5C8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4464" y="1481328"/>
            <a:ext cx="3703320" cy="502920"/>
          </a:xfrm>
          <a:prstGeom prst="rect">
            <a:avLst/>
          </a:prstGeom>
          <a:solidFill>
            <a:srgbClr val="F5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1572768"/>
            <a:ext cx="3429000" cy="347472"/>
          </a:xfrm>
          <a:prstGeom prst="rect">
            <a:avLst/>
          </a:prstGeom>
          <a:noFill/>
        </p:spPr>
        <p:txBody>
          <a:bodyPr wrap="square">
            <a:spAutoFit/>
          </a:bodyPr>
          <a:lstStyle/>
          <a:p>
            <a:pPr algn="l"/>
            <a:r>
              <a:rPr sz="1400" b="1" i="0">
                <a:solidFill>
                  <a:srgbClr val="CB6B52"/>
                </a:solidFill>
              </a:rPr>
              <a:t>Between-sample structure</a:t>
            </a:r>
          </a:p>
        </p:txBody>
      </p:sp>
      <p:sp>
        <p:nvSpPr>
          <p:cNvPr id="18" name="TextBox 17"/>
          <p:cNvSpPr txBox="1"/>
          <p:nvPr/>
        </p:nvSpPr>
        <p:spPr>
          <a:xfrm>
            <a:off x="8412480" y="2075688"/>
            <a:ext cx="3429000" cy="1572768"/>
          </a:xfrm>
          <a:prstGeom prst="rect">
            <a:avLst/>
          </a:prstGeom>
          <a:noFill/>
        </p:spPr>
        <p:txBody>
          <a:bodyPr wrap="square">
            <a:spAutoFit/>
          </a:bodyPr>
          <a:lstStyle/>
          <a:p>
            <a:pPr algn="l"/>
            <a:r>
              <a:rPr sz="1300" b="0" i="0">
                <a:solidFill>
                  <a:srgbClr val="1E3A4A"/>
                </a:solidFill>
              </a:rPr>
              <a:t>Do samples cluster by treatment, host, or environment?
Visualized as a 2D ordination plot.</a:t>
            </a:r>
          </a:p>
        </p:txBody>
      </p:sp>
      <p:sp>
        <p:nvSpPr>
          <p:cNvPr id="19" name="Rectangle 18"/>
          <p:cNvSpPr/>
          <p:nvPr/>
        </p:nvSpPr>
        <p:spPr>
          <a:xfrm>
            <a:off x="384048" y="3968496"/>
            <a:ext cx="3703320" cy="2286000"/>
          </a:xfrm>
          <a:prstGeom prst="rect">
            <a:avLst/>
          </a:prstGeom>
          <a:solidFill>
            <a:srgbClr val="FFFFFF"/>
          </a:solidFill>
          <a:ln w="25400">
            <a:solidFill>
              <a:srgbClr val="D5C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4048" y="3968496"/>
            <a:ext cx="3703320" cy="502920"/>
          </a:xfrm>
          <a:prstGeom prst="rect">
            <a:avLst/>
          </a:prstGeom>
          <a:solidFill>
            <a:srgbClr val="D5CF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4059935"/>
            <a:ext cx="3429000" cy="347472"/>
          </a:xfrm>
          <a:prstGeom prst="rect">
            <a:avLst/>
          </a:prstGeom>
          <a:noFill/>
        </p:spPr>
        <p:txBody>
          <a:bodyPr wrap="square">
            <a:spAutoFit/>
          </a:bodyPr>
          <a:lstStyle/>
          <a:p>
            <a:pPr algn="l"/>
            <a:r>
              <a:rPr sz="1400" b="1" i="0">
                <a:solidFill>
                  <a:srgbClr val="7B6EAA"/>
                </a:solidFill>
              </a:rPr>
              <a:t>Statistical comparisons</a:t>
            </a:r>
          </a:p>
        </p:txBody>
      </p:sp>
      <p:sp>
        <p:nvSpPr>
          <p:cNvPr id="22" name="TextBox 21"/>
          <p:cNvSpPr txBox="1"/>
          <p:nvPr/>
        </p:nvSpPr>
        <p:spPr>
          <a:xfrm>
            <a:off x="512064" y="4562856"/>
            <a:ext cx="3429000" cy="1572768"/>
          </a:xfrm>
          <a:prstGeom prst="rect">
            <a:avLst/>
          </a:prstGeom>
          <a:noFill/>
        </p:spPr>
        <p:txBody>
          <a:bodyPr wrap="square">
            <a:spAutoFit/>
          </a:bodyPr>
          <a:lstStyle/>
          <a:p>
            <a:pPr algn="l"/>
            <a:r>
              <a:rPr sz="1300" b="0" i="0">
                <a:solidFill>
                  <a:srgbClr val="1E3A4A"/>
                </a:solidFill>
              </a:rPr>
              <a:t>Are the observed differences in diversity or composition
statistically significant?</a:t>
            </a:r>
          </a:p>
        </p:txBody>
      </p:sp>
      <p:sp>
        <p:nvSpPr>
          <p:cNvPr id="23" name="Rectangle 22"/>
          <p:cNvSpPr/>
          <p:nvPr/>
        </p:nvSpPr>
        <p:spPr>
          <a:xfrm>
            <a:off x="4334256" y="3968496"/>
            <a:ext cx="3703320" cy="2286000"/>
          </a:xfrm>
          <a:prstGeom prst="rect">
            <a:avLst/>
          </a:prstGeom>
          <a:solidFill>
            <a:srgbClr val="FFFFFF"/>
          </a:solidFill>
          <a:ln w="25400">
            <a:solidFill>
              <a:srgbClr val="C3E6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4256" y="3968496"/>
            <a:ext cx="3703320" cy="502920"/>
          </a:xfrm>
          <a:prstGeom prst="rect">
            <a:avLst/>
          </a:prstGeom>
          <a:solidFill>
            <a:srgbClr val="C3E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62272" y="4059935"/>
            <a:ext cx="3429000" cy="347472"/>
          </a:xfrm>
          <a:prstGeom prst="rect">
            <a:avLst/>
          </a:prstGeom>
          <a:noFill/>
        </p:spPr>
        <p:txBody>
          <a:bodyPr wrap="square">
            <a:spAutoFit/>
          </a:bodyPr>
          <a:lstStyle/>
          <a:p>
            <a:pPr algn="l"/>
            <a:r>
              <a:rPr sz="1400" b="1" i="0">
                <a:solidFill>
                  <a:srgbClr val="4F9A60"/>
                </a:solidFill>
              </a:rPr>
              <a:t>Candidate taxa</a:t>
            </a:r>
          </a:p>
        </p:txBody>
      </p:sp>
      <p:sp>
        <p:nvSpPr>
          <p:cNvPr id="26" name="TextBox 25"/>
          <p:cNvSpPr txBox="1"/>
          <p:nvPr/>
        </p:nvSpPr>
        <p:spPr>
          <a:xfrm>
            <a:off x="4462272" y="4562856"/>
            <a:ext cx="3429000" cy="1572768"/>
          </a:xfrm>
          <a:prstGeom prst="rect">
            <a:avLst/>
          </a:prstGeom>
          <a:noFill/>
        </p:spPr>
        <p:txBody>
          <a:bodyPr wrap="square">
            <a:spAutoFit/>
          </a:bodyPr>
          <a:lstStyle/>
          <a:p>
            <a:pPr algn="l"/>
            <a:r>
              <a:rPr sz="1300" b="0" i="0">
                <a:solidFill>
                  <a:srgbClr val="1E3A4A"/>
                </a:solidFill>
              </a:rPr>
              <a:t>Which specific groups drive the differences
we observe between conditions?</a:t>
            </a:r>
          </a:p>
        </p:txBody>
      </p:sp>
      <p:sp>
        <p:nvSpPr>
          <p:cNvPr id="27" name="Rectangle 26"/>
          <p:cNvSpPr/>
          <p:nvPr/>
        </p:nvSpPr>
        <p:spPr>
          <a:xfrm>
            <a:off x="384048" y="6446520"/>
            <a:ext cx="11411712" cy="365760"/>
          </a:xfrm>
          <a:prstGeom prst="rect">
            <a:avLst/>
          </a:prstGeom>
          <a:solidFill>
            <a:srgbClr val="C3E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492240"/>
            <a:ext cx="10972800" cy="274320"/>
          </a:xfrm>
          <a:prstGeom prst="rect">
            <a:avLst/>
          </a:prstGeom>
          <a:noFill/>
        </p:spPr>
        <p:txBody>
          <a:bodyPr wrap="square">
            <a:spAutoFit/>
          </a:bodyPr>
          <a:lstStyle/>
          <a:p>
            <a:pPr algn="ctr"/>
            <a:r>
              <a:rPr sz="1200" b="0" i="1">
                <a:solidFill>
                  <a:srgbClr val="4F9A60"/>
                </a:solidFill>
              </a:rPr>
              <a:t>The same pipeline applies to any 16S dataset — the biology changes, the process stays the same.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