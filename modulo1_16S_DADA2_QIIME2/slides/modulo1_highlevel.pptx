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12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Who's there?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B8DEDB"/>
                </a:solidFill>
              </a:rPr>
              <a:t>Profiling the Microbial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6400800" cy="3810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DF1"/>
                </a:solidFill>
              </a:rPr>
              <a:t>A walk through 16S rRNA amplicon sequencing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DEDB"/>
                </a:solidFill>
              </a:rPr>
              <a:t>What we will 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4243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 How we capture a snapshot of the microbial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 How we clean and validate the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0819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 How we measure diversity — within and between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9107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·  How we assign names to the microbes we detect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4A"/>
                </a:solidFill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8494"/>
                </a:solidFill>
              </a:rPr>
              <a:t>From a biological sample to a microbial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2011680" cy="59436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908A"/>
                </a:solidFill>
              </a:rPr>
              <a:t>Sample
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Extract DNA from
the sample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2651760"/>
            <a:ext cx="201168" cy="0"/>
          </a:xfrm>
          <a:prstGeom prst="line">
            <a:avLst/>
          </a:prstGeom>
          <a:ln w="25400">
            <a:solidFill>
              <a:srgbClr val="3D9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96896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6896" y="1463040"/>
            <a:ext cx="2011680" cy="59436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7FA5"/>
                </a:solidFill>
              </a:rPr>
              <a:t>Targeted
amplification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PCR-amplify the
16S marker gene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08576" y="2651760"/>
            <a:ext cx="201168" cy="0"/>
          </a:xfrm>
          <a:prstGeom prst="line">
            <a:avLst/>
          </a:prstGeom>
          <a:ln w="25400">
            <a:solidFill>
              <a:srgbClr val="4A7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09744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1463040"/>
            <a:ext cx="2011680" cy="59436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B6B52"/>
                </a:solidFill>
              </a:rPr>
              <a:t>Sequencing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Read millions of
DNA fragments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21424" y="2651760"/>
            <a:ext cx="201168" cy="0"/>
          </a:xfrm>
          <a:prstGeom prst="line">
            <a:avLst/>
          </a:prstGeom>
          <a:ln w="25400">
            <a:solidFill>
              <a:srgbClr val="CB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22592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2592" y="1463040"/>
            <a:ext cx="2011680" cy="59436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EAA"/>
                </a:solidFill>
              </a:rPr>
              <a:t>Data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Clean, filter and
identify sequences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34272" y="2651760"/>
            <a:ext cx="201168" cy="0"/>
          </a:xfrm>
          <a:prstGeom prst="line">
            <a:avLst/>
          </a:prstGeom>
          <a:ln w="25400">
            <a:solidFill>
              <a:srgbClr val="7B6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35440" y="1463040"/>
            <a:ext cx="20116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3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463040"/>
            <a:ext cx="2011680" cy="59436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9A60"/>
                </a:solidFill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148840"/>
            <a:ext cx="1828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Diversity, taxonomy
and statistics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041648"/>
            <a:ext cx="11411712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041648"/>
            <a:ext cx="256032" cy="224028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148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908A"/>
                </a:solidFill>
              </a:rPr>
              <a:t>Why the 16S rRNA gene?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0288"/>
            <a:ext cx="3383280" cy="150876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908A"/>
                </a:solidFill>
              </a:rPr>
              <a:t>Universal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Found in every known
bacterium and archaeon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4590288"/>
            <a:ext cx="3383280" cy="150876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7FA5"/>
                </a:solidFill>
              </a:rPr>
              <a:t>Discriminating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Variable regions allow us
to tell species apart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590288"/>
            <a:ext cx="3383280" cy="150876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645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6EAA"/>
                </a:solidFill>
              </a:rPr>
              <a:t>Practical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4736" y="504748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Well-established protocols
and huge reference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4A"/>
                </a:solidFill>
              </a:rPr>
              <a:t>From Raw Data to Trusted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8494"/>
                </a:solidFill>
              </a:rPr>
              <a:t>Quality control, primer removal, and error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55778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457200" cy="233172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444752"/>
            <a:ext cx="5577840" cy="475488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6B52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536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6B52"/>
                </a:solidFill>
              </a:rPr>
              <a:t>Raw reads arrive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993392"/>
            <a:ext cx="48463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Millions of short DNA sequences come off the sequencer.
Each read has a quality score at every position — a measure
of how confident the machine is in each base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444752"/>
            <a:ext cx="55778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444752"/>
            <a:ext cx="457200" cy="23317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8" y="1444752"/>
            <a:ext cx="5577840" cy="47548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5179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7FA5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1536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FA5"/>
                </a:solidFill>
              </a:rPr>
              <a:t>Quality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1993392"/>
            <a:ext cx="48463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We inspect quality scores across all positions.
Reads that fall below acceptable thresholds are discarded.
This is the first filter that protects data integrity.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59352"/>
            <a:ext cx="55778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59352"/>
            <a:ext cx="457200" cy="233172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959352"/>
            <a:ext cx="5577840" cy="475488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0325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D908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0507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908A"/>
                </a:solidFill>
              </a:rPr>
              <a:t>Primer removal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507992"/>
            <a:ext cx="48463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PCR primers are attached to every read — they are not
biological signal. We strip them before any analysis
so they don't distort the results.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3959352"/>
            <a:ext cx="55778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3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3959352"/>
            <a:ext cx="457200" cy="23317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8" y="3959352"/>
            <a:ext cx="5577840" cy="475488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0325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9A6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40507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9A60"/>
                </a:solidFill>
              </a:rPr>
              <a:t>Error correction → ASVs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6" y="4507992"/>
            <a:ext cx="48463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Sequencers make mistakes. We build a statistical model
of errors from the data itself, then correct them.
The result: exact, unique sequences called ASVs.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6446520"/>
            <a:ext cx="11411712" cy="347472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6B52"/>
                </a:solidFill>
              </a:rPr>
              <a:t>ASV  (Amplicon Sequence Variant)  —  an exact, unique biological sequence. More precise than the older OTU approach (97% clustering).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4A"/>
                </a:solidFill>
              </a:rPr>
              <a:t>Measuring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8494"/>
                </a:solidFill>
              </a:rPr>
              <a:t>How rich is each sample? How different are the communities from each other?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44752"/>
            <a:ext cx="544068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5440680" cy="530352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7FA5"/>
                </a:solidFill>
              </a:rPr>
              <a:t>Alpha diversity  ·  Within a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1"/>
            <a:ext cx="507492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How many different microbes are present in ONE sample?
We measure:
·  Richness — how many distinct types exist
·  Evenness — are they equally abundant, or does
   one type dominate?
·  Phylogenetic diversity — how evolutionarily
   spread out are they?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444752"/>
            <a:ext cx="5788152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7608" y="1444752"/>
            <a:ext cx="5788152" cy="530352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99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B6B52"/>
                </a:solidFill>
              </a:rPr>
              <a:t>Beta diversity  ·  Between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084831"/>
            <a:ext cx="539496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How similar or different are two communities?
We compare all pairs of samples and project
them into a 2D plot (PCoA).
·  Samples close together share a similar
   microbial composition.
·  Samples far apart have distinct communities.
·  Groups that cluster = shared 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681728"/>
            <a:ext cx="114117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681728"/>
            <a:ext cx="256032" cy="1572768"/>
          </a:xfrm>
          <a:prstGeom prst="rect">
            <a:avLst/>
          </a:prstGeom>
          <a:solidFill>
            <a:srgbClr val="6E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A"/>
                </a:solidFill>
              </a:rPr>
              <a:t>Why rarefaction?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157216"/>
            <a:ext cx="10789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Different samples often have different numbers of reads — not because of biology, but because of technical variation in sequencing.
To compare diversity fairly, we subsample all samples down to the same depth before computing any metrics.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4754880"/>
            <a:ext cx="2926080" cy="1371600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E8494"/>
                </a:solidFill>
              </a:rPr>
              <a:t>PCoA plot</a:t>
            </a:r>
          </a:p>
        </p:txBody>
      </p:sp>
      <p:sp>
        <p:nvSpPr>
          <p:cNvPr id="21" name="Oval 20"/>
          <p:cNvSpPr/>
          <p:nvPr/>
        </p:nvSpPr>
        <p:spPr>
          <a:xfrm>
            <a:off x="8942832" y="5239512"/>
            <a:ext cx="219456" cy="219456"/>
          </a:xfrm>
          <a:prstGeom prst="ellipse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71432" y="5541264"/>
            <a:ext cx="219456" cy="219456"/>
          </a:xfrm>
          <a:prstGeom prst="ellipse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34272" y="5394960"/>
            <a:ext cx="219456" cy="219456"/>
          </a:xfrm>
          <a:prstGeom prst="ellipse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14432" y="5513832"/>
            <a:ext cx="219456" cy="219456"/>
          </a:xfrm>
          <a:prstGeom prst="ellipse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97312" y="5833872"/>
            <a:ext cx="219456" cy="219456"/>
          </a:xfrm>
          <a:prstGeom prst="ellipse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0152" y="5330952"/>
            <a:ext cx="219456" cy="219456"/>
          </a:xfrm>
          <a:prstGeom prst="ellipse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5925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8494"/>
                </a:solidFill>
              </a:rPr>
              <a:t>● Group A  ● Group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4A"/>
                </a:solidFill>
              </a:rPr>
              <a:t>Putting Names to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8494"/>
                </a:solidFill>
              </a:rPr>
              <a:t>Matching each unique sequence against a curated reference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2606040" cy="530352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27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EAA"/>
                </a:solidFill>
              </a:rPr>
              <a:t>Unique
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84831"/>
            <a:ext cx="2377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Every distinct sequence
from our samples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304288"/>
            <a:ext cx="320040" cy="0"/>
          </a:xfrm>
          <a:prstGeom prst="line">
            <a:avLst/>
          </a:prstGeom>
          <a:ln w="25400">
            <a:solidFill>
              <a:srgbClr val="7B6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29000" y="1481328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81328"/>
            <a:ext cx="2606040" cy="530352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527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7FA5"/>
                </a:solidFill>
              </a:rPr>
              <a:t>Reference
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084831"/>
            <a:ext cx="2377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Hundreds of thousands
of known sequences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304288"/>
            <a:ext cx="320040" cy="0"/>
          </a:xfrm>
          <a:prstGeom prst="line">
            <a:avLst/>
          </a:prstGeom>
          <a:ln w="25400">
            <a:solidFill>
              <a:srgbClr val="4A7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55080" y="1481328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81328"/>
            <a:ext cx="2606040" cy="530352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527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908A"/>
                </a:solidFill>
              </a:rPr>
              <a:t>Matching
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084831"/>
            <a:ext cx="2377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Statistical classifier
finds best match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2304288"/>
            <a:ext cx="320040" cy="0"/>
          </a:xfrm>
          <a:prstGeom prst="line">
            <a:avLst/>
          </a:prstGeom>
          <a:ln w="25400">
            <a:solidFill>
              <a:srgbClr val="3D9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281160" y="1481328"/>
            <a:ext cx="26060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3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481328"/>
            <a:ext cx="2606040" cy="530352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1527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9A60"/>
                </a:solidFill>
              </a:rPr>
              <a:t>Taxonomic
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084831"/>
            <a:ext cx="2377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Domain → Phylum → Class
→ Order → Family → Genus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401568"/>
            <a:ext cx="1141171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401568"/>
            <a:ext cx="256032" cy="2377440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474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6EAA"/>
                </a:solidFill>
              </a:rPr>
              <a:t>Relative abundance barplot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950208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Once every sequence has a name, we can visualize the composition
of each sample as a stacked bar — showing what fraction of the
community belongs to each group at any taxonomic level.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493008"/>
            <a:ext cx="4206240" cy="2148840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4665726"/>
            <a:ext cx="868680" cy="72009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4345686"/>
            <a:ext cx="868680" cy="320040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9" y="4105655"/>
            <a:ext cx="868680" cy="240030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3945635"/>
            <a:ext cx="868680" cy="160020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3785615"/>
            <a:ext cx="868680" cy="160020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81159" y="4985766"/>
            <a:ext cx="868680" cy="40005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81159" y="4425696"/>
            <a:ext cx="868680" cy="560069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59" y="4105656"/>
            <a:ext cx="868680" cy="320040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59" y="3913631"/>
            <a:ext cx="868680" cy="192024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59" y="3785615"/>
            <a:ext cx="868680" cy="128016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15600" y="4425696"/>
            <a:ext cx="868680" cy="960120"/>
          </a:xfrm>
          <a:prstGeom prst="rect">
            <a:avLst/>
          </a:prstGeom>
          <a:solidFill>
            <a:srgbClr val="3D9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15600" y="4265675"/>
            <a:ext cx="868680" cy="160020"/>
          </a:xfrm>
          <a:prstGeom prst="rect">
            <a:avLst/>
          </a:prstGeom>
          <a:solidFill>
            <a:srgbClr val="4A7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15600" y="3977639"/>
            <a:ext cx="868680" cy="288036"/>
          </a:xfrm>
          <a:prstGeom prst="rect">
            <a:avLst/>
          </a:prstGeom>
          <a:solidFill>
            <a:srgbClr val="CB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15600" y="3865626"/>
            <a:ext cx="868680" cy="112014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515600" y="3785615"/>
            <a:ext cx="868680" cy="80010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19" y="5431536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4A"/>
                </a:solidFill>
              </a:rPr>
              <a:t>Sample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5431536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4A"/>
                </a:solidFill>
              </a:rPr>
              <a:t>Sample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5431536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4A"/>
                </a:solidFill>
              </a:rPr>
              <a:t>Sample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F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4A"/>
                </a:solidFill>
              </a:rPr>
              <a:t>What We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8494"/>
                </a:solidFill>
              </a:rPr>
              <a:t>From sequences to biological 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81328"/>
            <a:ext cx="3703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3703320" cy="502920"/>
          </a:xfrm>
          <a:prstGeom prst="rect">
            <a:avLst/>
          </a:prstGeom>
          <a:solidFill>
            <a:srgbClr val="B8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5727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908A"/>
                </a:solidFill>
              </a:rPr>
              <a:t>Community 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075688"/>
            <a:ext cx="3429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Which microbes are present and in what proportions
— at every taxonomic level from phylum to genus.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81328"/>
            <a:ext cx="3703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81328"/>
            <a:ext cx="3703320" cy="5029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5727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FA5"/>
                </a:solidFill>
              </a:rPr>
              <a:t>Within-sample diversity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075688"/>
            <a:ext cx="3429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How rich and even is each sample? Is one condition
associated with higher or lower microbial diversity?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481328"/>
            <a:ext cx="3703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481328"/>
            <a:ext cx="3703320" cy="502920"/>
          </a:xfrm>
          <a:prstGeom prst="rect">
            <a:avLst/>
          </a:prstGeom>
          <a:solidFill>
            <a:srgbClr val="F5C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727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6B52"/>
                </a:solidFill>
              </a:rPr>
              <a:t>Between-sample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75688"/>
            <a:ext cx="3429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Do samples cluster by treatment, host, or environment?
Visualized as a 2D ordination plot.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68496"/>
            <a:ext cx="3703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68496"/>
            <a:ext cx="3703320" cy="50292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059935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6EAA"/>
                </a:solidFill>
              </a:rPr>
              <a:t>Statistical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562856"/>
            <a:ext cx="3429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Are the observed differences in diversity or composition
statistically significant?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968496"/>
            <a:ext cx="3703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3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6" y="3968496"/>
            <a:ext cx="3703320" cy="5029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059935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9A60"/>
                </a:solidFill>
              </a:rPr>
              <a:t>Candidate taxa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562856"/>
            <a:ext cx="34290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4A"/>
                </a:solidFill>
              </a:rPr>
              <a:t>Which specific groups drive the differences
we observe between conditions?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46520"/>
            <a:ext cx="11411712" cy="36576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F9A60"/>
                </a:solidFill>
              </a:rPr>
              <a:t>The same pipeline applies to any 16S dataset — the biology changes, the process stays the same.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