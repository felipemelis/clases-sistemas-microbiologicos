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4E9B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120640"/>
            <a:ext cx="12188952" cy="1737360"/>
          </a:xfrm>
          <a:prstGeom prst="rect">
            <a:avLst/>
          </a:prstGeom>
          <a:solidFill>
            <a:srgbClr val="1428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82296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400" b="1" i="0">
                <a:solidFill>
                  <a:srgbClr val="FFFFFF"/>
                </a:solidFill>
              </a:rPr>
              <a:t>16S rRNA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82880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0" i="0">
                <a:solidFill>
                  <a:srgbClr val="B2DFDB"/>
                </a:solidFill>
              </a:rPr>
              <a:t>DADA2  ·  QIIME2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2606040"/>
            <a:ext cx="5486400" cy="38100"/>
          </a:xfrm>
          <a:prstGeom prst="rect">
            <a:avLst/>
          </a:prstGeom>
          <a:solidFill>
            <a:srgbClr val="4E9B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2724912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E4EBF0"/>
                </a:solidFill>
              </a:rPr>
              <a:t>Module 1 · Practical Workshop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5212080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B2DFDB"/>
                </a:solidFill>
              </a:rPr>
              <a:t>Objective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5577840"/>
            <a:ext cx="9601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Process raw 16S reads from FASTQ files through quality control,
denoising, diversity analysis, and taxonomic assignment.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75520" y="649224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1">
                <a:solidFill>
                  <a:srgbClr val="6E8494"/>
                </a:solidFill>
              </a:rPr>
              <a:t>Microbial Systems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618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61872"/>
            <a:ext cx="12188952" cy="54864"/>
          </a:xfrm>
          <a:prstGeom prst="rect">
            <a:avLst/>
          </a:prstGeom>
          <a:solidFill>
            <a:srgbClr val="4E9B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56032" cy="1261872"/>
          </a:xfrm>
          <a:prstGeom prst="rect">
            <a:avLst/>
          </a:prstGeom>
          <a:solidFill>
            <a:srgbClr val="4E9B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84048" y="91440"/>
            <a:ext cx="9601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E3A4A"/>
                </a:solidFill>
              </a:rPr>
              <a:t>Pipeline Roadmap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" y="749808"/>
            <a:ext cx="9601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6E8494"/>
                </a:solidFill>
              </a:rPr>
              <a:t>9 steps from raw reads to results</a:t>
            </a:r>
          </a:p>
        </p:txBody>
      </p:sp>
      <p:sp>
        <p:nvSpPr>
          <p:cNvPr id="7" name="Rectangle 6"/>
          <p:cNvSpPr/>
          <p:nvPr/>
        </p:nvSpPr>
        <p:spPr>
          <a:xfrm>
            <a:off x="10789920" y="109728"/>
            <a:ext cx="1188720" cy="411480"/>
          </a:xfrm>
          <a:prstGeom prst="rect">
            <a:avLst/>
          </a:prstGeom>
          <a:solidFill>
            <a:srgbClr val="B2DF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808208" y="128016"/>
            <a:ext cx="115214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4E9B97"/>
                </a:solidFill>
              </a:rPr>
              <a:t>Overview</a:t>
            </a:r>
          </a:p>
        </p:txBody>
      </p:sp>
      <p:sp>
        <p:nvSpPr>
          <p:cNvPr id="9" name="Rectangle 8"/>
          <p:cNvSpPr/>
          <p:nvPr/>
        </p:nvSpPr>
        <p:spPr>
          <a:xfrm>
            <a:off x="384048" y="1554480"/>
            <a:ext cx="1188720" cy="1325880"/>
          </a:xfrm>
          <a:prstGeom prst="rect">
            <a:avLst/>
          </a:prstGeom>
          <a:solidFill>
            <a:srgbClr val="B2DFDB"/>
          </a:solidFill>
          <a:ln w="19050">
            <a:solidFill>
              <a:srgbClr val="4E9B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627632"/>
            <a:ext cx="347472" cy="347472"/>
          </a:xfrm>
          <a:prstGeom prst="rect">
            <a:avLst/>
          </a:prstGeom>
          <a:solidFill>
            <a:srgbClr val="4E9B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1636776"/>
            <a:ext cx="3474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029967"/>
            <a:ext cx="107899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3A4A"/>
                </a:solidFill>
              </a:rPr>
              <a:t>Import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2404872"/>
            <a:ext cx="107899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E8494"/>
                </a:solidFill>
              </a:rPr>
              <a:t>FASTQ → .qza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581912" y="2212848"/>
            <a:ext cx="91440" cy="0"/>
          </a:xfrm>
          <a:prstGeom prst="line">
            <a:avLst/>
          </a:prstGeom>
          <a:ln w="25400">
            <a:solidFill>
              <a:srgbClr val="4E9B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1664208" y="1554480"/>
            <a:ext cx="1188720" cy="1325880"/>
          </a:xfrm>
          <a:prstGeom prst="rect">
            <a:avLst/>
          </a:prstGeom>
          <a:solidFill>
            <a:srgbClr val="B2DFDB"/>
          </a:solidFill>
          <a:ln w="19050">
            <a:solidFill>
              <a:srgbClr val="4E9B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737360" y="1627632"/>
            <a:ext cx="347472" cy="347472"/>
          </a:xfrm>
          <a:prstGeom prst="rect">
            <a:avLst/>
          </a:prstGeom>
          <a:solidFill>
            <a:srgbClr val="4E9B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737360" y="1636776"/>
            <a:ext cx="3474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737360" y="2029967"/>
            <a:ext cx="107899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3A4A"/>
                </a:solidFill>
              </a:rPr>
              <a:t>Quality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37360" y="2404872"/>
            <a:ext cx="107899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E8494"/>
                </a:solidFill>
              </a:rPr>
              <a:t>Phred scores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2862072" y="2212848"/>
            <a:ext cx="91440" cy="0"/>
          </a:xfrm>
          <a:prstGeom prst="line">
            <a:avLst/>
          </a:prstGeom>
          <a:ln w="25400">
            <a:solidFill>
              <a:srgbClr val="4E9B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ctangle 20"/>
          <p:cNvSpPr/>
          <p:nvPr/>
        </p:nvSpPr>
        <p:spPr>
          <a:xfrm>
            <a:off x="2944368" y="1554480"/>
            <a:ext cx="1188720" cy="1325880"/>
          </a:xfrm>
          <a:prstGeom prst="rect">
            <a:avLst/>
          </a:prstGeom>
          <a:solidFill>
            <a:srgbClr val="B2DFDB"/>
          </a:solidFill>
          <a:ln w="19050">
            <a:solidFill>
              <a:srgbClr val="4E9B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017520" y="1627632"/>
            <a:ext cx="347472" cy="347472"/>
          </a:xfrm>
          <a:prstGeom prst="rect">
            <a:avLst/>
          </a:prstGeom>
          <a:solidFill>
            <a:srgbClr val="4E9B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017520" y="1636776"/>
            <a:ext cx="3474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017520" y="2029967"/>
            <a:ext cx="107899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3A4A"/>
                </a:solidFill>
              </a:rPr>
              <a:t>Cutadapt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017520" y="2404872"/>
            <a:ext cx="107899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E8494"/>
                </a:solidFill>
              </a:rPr>
              <a:t>Remove primers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4142232" y="2212848"/>
            <a:ext cx="91440" cy="0"/>
          </a:xfrm>
          <a:prstGeom prst="line">
            <a:avLst/>
          </a:prstGeom>
          <a:ln w="25400">
            <a:solidFill>
              <a:srgbClr val="4E9B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ectangle 26"/>
          <p:cNvSpPr/>
          <p:nvPr/>
        </p:nvSpPr>
        <p:spPr>
          <a:xfrm>
            <a:off x="4224528" y="1554480"/>
            <a:ext cx="1188720" cy="1325880"/>
          </a:xfrm>
          <a:prstGeom prst="rect">
            <a:avLst/>
          </a:prstGeom>
          <a:solidFill>
            <a:srgbClr val="F5C9BE"/>
          </a:solidFill>
          <a:ln w="19050">
            <a:solidFill>
              <a:srgbClr val="D974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297680" y="1627632"/>
            <a:ext cx="347472" cy="347472"/>
          </a:xfrm>
          <a:prstGeom prst="rect">
            <a:avLst/>
          </a:prstGeom>
          <a:solidFill>
            <a:srgbClr val="D974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297680" y="1636776"/>
            <a:ext cx="3474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97680" y="2029967"/>
            <a:ext cx="107899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3A4A"/>
                </a:solidFill>
              </a:rPr>
              <a:t>DADA2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97680" y="2404872"/>
            <a:ext cx="107899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E8494"/>
                </a:solidFill>
              </a:rPr>
              <a:t>Denoising + ASVs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5422392" y="2212848"/>
            <a:ext cx="91439" cy="0"/>
          </a:xfrm>
          <a:prstGeom prst="line">
            <a:avLst/>
          </a:prstGeom>
          <a:ln w="25400">
            <a:solidFill>
              <a:srgbClr val="D974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ectangle 32"/>
          <p:cNvSpPr/>
          <p:nvPr/>
        </p:nvSpPr>
        <p:spPr>
          <a:xfrm>
            <a:off x="5504688" y="1554480"/>
            <a:ext cx="1188720" cy="1325880"/>
          </a:xfrm>
          <a:prstGeom prst="rect">
            <a:avLst/>
          </a:prstGeom>
          <a:solidFill>
            <a:srgbClr val="F5C9BE"/>
          </a:solidFill>
          <a:ln w="19050">
            <a:solidFill>
              <a:srgbClr val="D974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577840" y="1627632"/>
            <a:ext cx="347472" cy="347472"/>
          </a:xfrm>
          <a:prstGeom prst="rect">
            <a:avLst/>
          </a:prstGeom>
          <a:solidFill>
            <a:srgbClr val="D974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577840" y="1636776"/>
            <a:ext cx="3474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577840" y="2029967"/>
            <a:ext cx="107899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3A4A"/>
                </a:solidFill>
              </a:rPr>
              <a:t>ASV Table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577840" y="2404872"/>
            <a:ext cx="107899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E8494"/>
                </a:solidFill>
              </a:rPr>
              <a:t>Feature table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6702552" y="2212848"/>
            <a:ext cx="91440" cy="0"/>
          </a:xfrm>
          <a:prstGeom prst="line">
            <a:avLst/>
          </a:prstGeom>
          <a:ln w="25400">
            <a:solidFill>
              <a:srgbClr val="D974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ectangle 38"/>
          <p:cNvSpPr/>
          <p:nvPr/>
        </p:nvSpPr>
        <p:spPr>
          <a:xfrm>
            <a:off x="6784848" y="1554480"/>
            <a:ext cx="1188720" cy="1325880"/>
          </a:xfrm>
          <a:prstGeom prst="rect">
            <a:avLst/>
          </a:prstGeom>
          <a:solidFill>
            <a:srgbClr val="BBD6ED"/>
          </a:solidFill>
          <a:ln w="19050">
            <a:solidFill>
              <a:srgbClr val="5B8D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858000" y="1627632"/>
            <a:ext cx="347472" cy="347472"/>
          </a:xfrm>
          <a:prstGeom prst="rect">
            <a:avLst/>
          </a:prstGeom>
          <a:solidFill>
            <a:srgbClr val="5B8D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858000" y="1636776"/>
            <a:ext cx="3474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858000" y="2029967"/>
            <a:ext cx="107899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3A4A"/>
                </a:solidFill>
              </a:rPr>
              <a:t>Phylogeny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58000" y="2404872"/>
            <a:ext cx="107899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E8494"/>
                </a:solidFill>
              </a:rPr>
              <a:t>FastTree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7982712" y="2212848"/>
            <a:ext cx="91440" cy="0"/>
          </a:xfrm>
          <a:prstGeom prst="line">
            <a:avLst/>
          </a:prstGeom>
          <a:ln w="25400">
            <a:solidFill>
              <a:srgbClr val="5B8D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Rectangle 44"/>
          <p:cNvSpPr/>
          <p:nvPr/>
        </p:nvSpPr>
        <p:spPr>
          <a:xfrm>
            <a:off x="8065008" y="1554480"/>
            <a:ext cx="1188720" cy="1325880"/>
          </a:xfrm>
          <a:prstGeom prst="rect">
            <a:avLst/>
          </a:prstGeom>
          <a:solidFill>
            <a:srgbClr val="BBD6ED"/>
          </a:solidFill>
          <a:ln w="19050">
            <a:solidFill>
              <a:srgbClr val="5B8D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8138160" y="1627632"/>
            <a:ext cx="347472" cy="347472"/>
          </a:xfrm>
          <a:prstGeom prst="rect">
            <a:avLst/>
          </a:prstGeom>
          <a:solidFill>
            <a:srgbClr val="5B8D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138160" y="1636776"/>
            <a:ext cx="3474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7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138160" y="2029967"/>
            <a:ext cx="107899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3A4A"/>
                </a:solidFill>
              </a:rPr>
              <a:t>Diversity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138160" y="2404872"/>
            <a:ext cx="107899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E8494"/>
                </a:solidFill>
              </a:rPr>
              <a:t>α + β + PCoA</a:t>
            </a:r>
          </a:p>
        </p:txBody>
      </p:sp>
      <p:cxnSp>
        <p:nvCxnSpPr>
          <p:cNvPr id="50" name="Connector 49"/>
          <p:cNvCxnSpPr/>
          <p:nvPr/>
        </p:nvCxnSpPr>
        <p:spPr>
          <a:xfrm>
            <a:off x="9262872" y="2212848"/>
            <a:ext cx="91440" cy="0"/>
          </a:xfrm>
          <a:prstGeom prst="line">
            <a:avLst/>
          </a:prstGeom>
          <a:ln w="25400">
            <a:solidFill>
              <a:srgbClr val="5B8D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Rectangle 50"/>
          <p:cNvSpPr/>
          <p:nvPr/>
        </p:nvSpPr>
        <p:spPr>
          <a:xfrm>
            <a:off x="9345168" y="1554480"/>
            <a:ext cx="1188720" cy="1325880"/>
          </a:xfrm>
          <a:prstGeom prst="rect">
            <a:avLst/>
          </a:prstGeom>
          <a:solidFill>
            <a:srgbClr val="D5CFEE"/>
          </a:solidFill>
          <a:ln w="19050">
            <a:solidFill>
              <a:srgbClr val="7B6E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9418320" y="1627632"/>
            <a:ext cx="347472" cy="347472"/>
          </a:xfrm>
          <a:prstGeom prst="rect">
            <a:avLst/>
          </a:prstGeom>
          <a:solidFill>
            <a:srgbClr val="7B6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418320" y="1636776"/>
            <a:ext cx="3474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8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418320" y="2029967"/>
            <a:ext cx="107899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3A4A"/>
                </a:solidFill>
              </a:rPr>
              <a:t>Taxonomy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418320" y="2404872"/>
            <a:ext cx="107899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E8494"/>
                </a:solidFill>
              </a:rPr>
              <a:t>Silva 138</a:t>
            </a:r>
          </a:p>
        </p:txBody>
      </p:sp>
      <p:cxnSp>
        <p:nvCxnSpPr>
          <p:cNvPr id="56" name="Connector 55"/>
          <p:cNvCxnSpPr/>
          <p:nvPr/>
        </p:nvCxnSpPr>
        <p:spPr>
          <a:xfrm>
            <a:off x="10543032" y="2212848"/>
            <a:ext cx="91440" cy="0"/>
          </a:xfrm>
          <a:prstGeom prst="line">
            <a:avLst/>
          </a:prstGeom>
          <a:ln w="25400">
            <a:solidFill>
              <a:srgbClr val="7B6E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Rectangle 56"/>
          <p:cNvSpPr/>
          <p:nvPr/>
        </p:nvSpPr>
        <p:spPr>
          <a:xfrm>
            <a:off x="10625328" y="1554480"/>
            <a:ext cx="1188720" cy="1325880"/>
          </a:xfrm>
          <a:prstGeom prst="rect">
            <a:avLst/>
          </a:prstGeom>
          <a:solidFill>
            <a:srgbClr val="D5CFEE"/>
          </a:solidFill>
          <a:ln w="19050">
            <a:solidFill>
              <a:srgbClr val="7B6E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10698480" y="1627632"/>
            <a:ext cx="347472" cy="347472"/>
          </a:xfrm>
          <a:prstGeom prst="rect">
            <a:avLst/>
          </a:prstGeom>
          <a:solidFill>
            <a:srgbClr val="7B6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0698480" y="1636776"/>
            <a:ext cx="3474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9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698480" y="2029967"/>
            <a:ext cx="107899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3A4A"/>
                </a:solidFill>
              </a:rPr>
              <a:t>Barplots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698480" y="2404872"/>
            <a:ext cx="107899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E8494"/>
                </a:solidFill>
              </a:rPr>
              <a:t>Visualization</a:t>
            </a:r>
          </a:p>
        </p:txBody>
      </p:sp>
      <p:sp>
        <p:nvSpPr>
          <p:cNvPr id="62" name="Rectangle 61"/>
          <p:cNvSpPr/>
          <p:nvPr/>
        </p:nvSpPr>
        <p:spPr>
          <a:xfrm>
            <a:off x="384048" y="2944368"/>
            <a:ext cx="3749040" cy="292608"/>
          </a:xfrm>
          <a:prstGeom prst="rect">
            <a:avLst/>
          </a:prstGeom>
          <a:solidFill>
            <a:srgbClr val="4E9B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429768" y="2971800"/>
            <a:ext cx="3657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Pre-processing</a:t>
            </a:r>
          </a:p>
        </p:txBody>
      </p:sp>
      <p:sp>
        <p:nvSpPr>
          <p:cNvPr id="64" name="Rectangle 63"/>
          <p:cNvSpPr/>
          <p:nvPr/>
        </p:nvSpPr>
        <p:spPr>
          <a:xfrm>
            <a:off x="4224528" y="2944368"/>
            <a:ext cx="2468880" cy="292608"/>
          </a:xfrm>
          <a:prstGeom prst="rect">
            <a:avLst/>
          </a:prstGeom>
          <a:solidFill>
            <a:srgbClr val="D974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4270248" y="2971800"/>
            <a:ext cx="23774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Core: DADA2</a:t>
            </a:r>
          </a:p>
        </p:txBody>
      </p:sp>
      <p:sp>
        <p:nvSpPr>
          <p:cNvPr id="66" name="Rectangle 65"/>
          <p:cNvSpPr/>
          <p:nvPr/>
        </p:nvSpPr>
        <p:spPr>
          <a:xfrm>
            <a:off x="6784848" y="2944368"/>
            <a:ext cx="5029200" cy="292608"/>
          </a:xfrm>
          <a:prstGeom prst="rect">
            <a:avLst/>
          </a:prstGeom>
          <a:solidFill>
            <a:srgbClr val="5B8D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6830568" y="2971800"/>
            <a:ext cx="4937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Analysis &amp; Visualization</a:t>
            </a:r>
          </a:p>
        </p:txBody>
      </p:sp>
      <p:sp>
        <p:nvSpPr>
          <p:cNvPr id="68" name="Rectangle 67"/>
          <p:cNvSpPr/>
          <p:nvPr/>
        </p:nvSpPr>
        <p:spPr>
          <a:xfrm>
            <a:off x="384048" y="3291840"/>
            <a:ext cx="11411712" cy="960120"/>
          </a:xfrm>
          <a:prstGeom prst="rect">
            <a:avLst/>
          </a:prstGeom>
          <a:solidFill>
            <a:srgbClr val="FFFFFF"/>
          </a:solidFill>
          <a:ln w="19050">
            <a:solidFill>
              <a:srgbClr val="B2DF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566928" y="3364992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E9B97"/>
                </a:solidFill>
              </a:rPr>
              <a:t>Dataset used in this notebook</a:t>
            </a:r>
          </a:p>
        </p:txBody>
      </p:sp>
      <p:sp>
        <p:nvSpPr>
          <p:cNvPr id="70" name="Rectangle 69"/>
          <p:cNvSpPr/>
          <p:nvPr/>
        </p:nvSpPr>
        <p:spPr>
          <a:xfrm>
            <a:off x="4389120" y="3410712"/>
            <a:ext cx="1737360" cy="384048"/>
          </a:xfrm>
          <a:prstGeom prst="rect">
            <a:avLst/>
          </a:prstGeom>
          <a:solidFill>
            <a:srgbClr val="B2DF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4443983" y="3447288"/>
            <a:ext cx="1627631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E3A4A"/>
                </a:solidFill>
              </a:rPr>
              <a:t>4 samples</a:t>
            </a:r>
          </a:p>
        </p:txBody>
      </p:sp>
      <p:sp>
        <p:nvSpPr>
          <p:cNvPr id="72" name="Rectangle 71"/>
          <p:cNvSpPr/>
          <p:nvPr/>
        </p:nvSpPr>
        <p:spPr>
          <a:xfrm>
            <a:off x="6263640" y="3410712"/>
            <a:ext cx="1737360" cy="384048"/>
          </a:xfrm>
          <a:prstGeom prst="rect">
            <a:avLst/>
          </a:prstGeom>
          <a:solidFill>
            <a:srgbClr val="BBD6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6318503" y="3447288"/>
            <a:ext cx="1627631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E3A4A"/>
                </a:solidFill>
              </a:rPr>
              <a:t>V4 region  (515F / 806R)</a:t>
            </a:r>
          </a:p>
        </p:txBody>
      </p:sp>
      <p:sp>
        <p:nvSpPr>
          <p:cNvPr id="74" name="Rectangle 73"/>
          <p:cNvSpPr/>
          <p:nvPr/>
        </p:nvSpPr>
        <p:spPr>
          <a:xfrm>
            <a:off x="8138159" y="3410712"/>
            <a:ext cx="1737360" cy="384048"/>
          </a:xfrm>
          <a:prstGeom prst="rect">
            <a:avLst/>
          </a:prstGeom>
          <a:solidFill>
            <a:srgbClr val="F5C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8193023" y="3447288"/>
            <a:ext cx="1627631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E3A4A"/>
                </a:solidFill>
              </a:rPr>
              <a:t>Paired-end · 250 bp</a:t>
            </a:r>
          </a:p>
        </p:txBody>
      </p:sp>
      <p:sp>
        <p:nvSpPr>
          <p:cNvPr id="76" name="Rectangle 75"/>
          <p:cNvSpPr/>
          <p:nvPr/>
        </p:nvSpPr>
        <p:spPr>
          <a:xfrm>
            <a:off x="10012680" y="3410712"/>
            <a:ext cx="1737360" cy="384048"/>
          </a:xfrm>
          <a:prstGeom prst="rect">
            <a:avLst/>
          </a:prstGeom>
          <a:solidFill>
            <a:srgbClr val="D5CF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10067544" y="3447288"/>
            <a:ext cx="1627631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E3A4A"/>
                </a:solidFill>
              </a:rPr>
              <a:t>~10,000 reads / sample</a:t>
            </a:r>
          </a:p>
        </p:txBody>
      </p:sp>
      <p:sp>
        <p:nvSpPr>
          <p:cNvPr id="78" name="Rectangle 77"/>
          <p:cNvSpPr/>
          <p:nvPr/>
        </p:nvSpPr>
        <p:spPr>
          <a:xfrm>
            <a:off x="384048" y="4343400"/>
            <a:ext cx="11411712" cy="502920"/>
          </a:xfrm>
          <a:prstGeom prst="rect">
            <a:avLst/>
          </a:prstGeom>
          <a:solidFill>
            <a:srgbClr val="E4EB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566928" y="440740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6E8494"/>
                </a:solidFill>
              </a:rPr>
              <a:t>.qza  =  data artifact (input for next steps)      .qzv  =  visualization (open at view.qiime2.org)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618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61872"/>
            <a:ext cx="12188952" cy="54864"/>
          </a:xfrm>
          <a:prstGeom prst="rect">
            <a:avLst/>
          </a:prstGeom>
          <a:solidFill>
            <a:srgbClr val="4E9B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56032" cy="1261872"/>
          </a:xfrm>
          <a:prstGeom prst="rect">
            <a:avLst/>
          </a:prstGeom>
          <a:solidFill>
            <a:srgbClr val="4E9B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84048" y="91440"/>
            <a:ext cx="9601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E3A4A"/>
                </a:solidFill>
              </a:rPr>
              <a:t>Why 16S rRNA?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" y="749808"/>
            <a:ext cx="9601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6E8494"/>
                </a:solidFill>
              </a:rPr>
              <a:t>The universal marker gene for culture-independent microbial profiling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384048" y="1463040"/>
            <a:ext cx="11411712" cy="896112"/>
          </a:xfrm>
          <a:prstGeom prst="rect">
            <a:avLst/>
          </a:prstGeom>
          <a:solidFill>
            <a:srgbClr val="FFFFFF"/>
          </a:solidFill>
          <a:ln w="19050">
            <a:solidFill>
              <a:srgbClr val="B2DF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508760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3A4A"/>
                </a:solidFill>
              </a:rPr>
              <a:t>16S rRNA gene  (~1,550 bp)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828800"/>
            <a:ext cx="731520" cy="384048"/>
          </a:xfrm>
          <a:prstGeom prst="rect">
            <a:avLst/>
          </a:prstGeom>
          <a:solidFill>
            <a:srgbClr val="E4EBF0"/>
          </a:solidFill>
          <a:ln w="12700">
            <a:solidFill>
              <a:srgbClr val="6E84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30352" y="1883664"/>
            <a:ext cx="67665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E3A4A"/>
                </a:solidFill>
              </a:rPr>
              <a:t>C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234440" y="1828800"/>
            <a:ext cx="457200" cy="384048"/>
          </a:xfrm>
          <a:prstGeom prst="rect">
            <a:avLst/>
          </a:prstGeom>
          <a:solidFill>
            <a:srgbClr val="B2DFDB"/>
          </a:solidFill>
          <a:ln w="12700">
            <a:solidFill>
              <a:srgbClr val="4E9B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61872" y="1883664"/>
            <a:ext cx="40233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E3A4A"/>
                </a:solidFill>
              </a:rPr>
              <a:t>V1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691640" y="1828800"/>
            <a:ext cx="365760" cy="384048"/>
          </a:xfrm>
          <a:prstGeom prst="rect">
            <a:avLst/>
          </a:prstGeom>
          <a:solidFill>
            <a:srgbClr val="E4EBF0"/>
          </a:solidFill>
          <a:ln w="12700">
            <a:solidFill>
              <a:srgbClr val="6E84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719072" y="1883664"/>
            <a:ext cx="31089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E3A4A"/>
                </a:solidFill>
              </a:rPr>
              <a:t>C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057400" y="1828800"/>
            <a:ext cx="457200" cy="384048"/>
          </a:xfrm>
          <a:prstGeom prst="rect">
            <a:avLst/>
          </a:prstGeom>
          <a:solidFill>
            <a:srgbClr val="B2DFDB"/>
          </a:solidFill>
          <a:ln w="12700">
            <a:solidFill>
              <a:srgbClr val="4E9B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084831" y="1883664"/>
            <a:ext cx="40233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E3A4A"/>
                </a:solidFill>
              </a:rPr>
              <a:t>V2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514600" y="1828800"/>
            <a:ext cx="365760" cy="384048"/>
          </a:xfrm>
          <a:prstGeom prst="rect">
            <a:avLst/>
          </a:prstGeom>
          <a:solidFill>
            <a:srgbClr val="E4EBF0"/>
          </a:solidFill>
          <a:ln w="12700">
            <a:solidFill>
              <a:srgbClr val="6E84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542032" y="1883664"/>
            <a:ext cx="31089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E3A4A"/>
                </a:solidFill>
              </a:rPr>
              <a:t>C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880360" y="1828800"/>
            <a:ext cx="731520" cy="384048"/>
          </a:xfrm>
          <a:prstGeom prst="rect">
            <a:avLst/>
          </a:prstGeom>
          <a:solidFill>
            <a:srgbClr val="BBD6ED"/>
          </a:solidFill>
          <a:ln w="12700">
            <a:solidFill>
              <a:srgbClr val="5B8D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907791" y="1883664"/>
            <a:ext cx="67665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E3A4A"/>
                </a:solidFill>
              </a:rPr>
              <a:t>V3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11880" y="1828800"/>
            <a:ext cx="1554480" cy="384048"/>
          </a:xfrm>
          <a:prstGeom prst="rect">
            <a:avLst/>
          </a:prstGeom>
          <a:solidFill>
            <a:srgbClr val="F5C9BE"/>
          </a:solidFill>
          <a:ln w="12700">
            <a:solidFill>
              <a:srgbClr val="D974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39312" y="1883664"/>
            <a:ext cx="149961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E3A4A"/>
                </a:solidFill>
              </a:rPr>
              <a:t>V4 ★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166360" y="1828800"/>
            <a:ext cx="365760" cy="384048"/>
          </a:xfrm>
          <a:prstGeom prst="rect">
            <a:avLst/>
          </a:prstGeom>
          <a:solidFill>
            <a:srgbClr val="E4EBF0"/>
          </a:solidFill>
          <a:ln w="12700">
            <a:solidFill>
              <a:srgbClr val="6E84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193792" y="1883664"/>
            <a:ext cx="31089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E3A4A"/>
                </a:solidFill>
              </a:rPr>
              <a:t>C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532120" y="1828800"/>
            <a:ext cx="457200" cy="384048"/>
          </a:xfrm>
          <a:prstGeom prst="rect">
            <a:avLst/>
          </a:prstGeom>
          <a:solidFill>
            <a:srgbClr val="B2DFDB"/>
          </a:solidFill>
          <a:ln w="12700">
            <a:solidFill>
              <a:srgbClr val="4E9B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559552" y="1883664"/>
            <a:ext cx="40233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E3A4A"/>
                </a:solidFill>
              </a:rPr>
              <a:t>V5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989320" y="1828800"/>
            <a:ext cx="457200" cy="384048"/>
          </a:xfrm>
          <a:prstGeom prst="rect">
            <a:avLst/>
          </a:prstGeom>
          <a:solidFill>
            <a:srgbClr val="E4EBF0"/>
          </a:solidFill>
          <a:ln w="12700">
            <a:solidFill>
              <a:srgbClr val="6E84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016752" y="1883664"/>
            <a:ext cx="40233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E3A4A"/>
                </a:solidFill>
              </a:rPr>
              <a:t>C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2304288"/>
            <a:ext cx="7315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D9745A"/>
                </a:solidFill>
              </a:rPr>
              <a:t>★  We amplify V4 with primers 515F / 806R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84048" y="2697480"/>
            <a:ext cx="3611880" cy="1920240"/>
          </a:xfrm>
          <a:prstGeom prst="rect">
            <a:avLst/>
          </a:prstGeom>
          <a:solidFill>
            <a:srgbClr val="FFFFFF"/>
          </a:solidFill>
          <a:ln w="25400">
            <a:solidFill>
              <a:srgbClr val="B2DF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84048" y="2697480"/>
            <a:ext cx="3611880" cy="457200"/>
          </a:xfrm>
          <a:prstGeom prst="rect">
            <a:avLst/>
          </a:prstGeom>
          <a:solidFill>
            <a:srgbClr val="B2DF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93776" y="2734056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4E9B97"/>
                </a:solidFill>
              </a:rPr>
              <a:t>Universal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93776" y="3218688"/>
            <a:ext cx="3383280" cy="1298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3A4A"/>
                </a:solidFill>
              </a:rPr>
              <a:t>Present in ALL bacteria and archaea.
Conserved regions allow reliable PCR amplification.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224528" y="2697480"/>
            <a:ext cx="3611880" cy="1920240"/>
          </a:xfrm>
          <a:prstGeom prst="rect">
            <a:avLst/>
          </a:prstGeom>
          <a:solidFill>
            <a:srgbClr val="FFFFFF"/>
          </a:solidFill>
          <a:ln w="25400">
            <a:solidFill>
              <a:srgbClr val="BBD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224528" y="2697480"/>
            <a:ext cx="3611880" cy="457200"/>
          </a:xfrm>
          <a:prstGeom prst="rect">
            <a:avLst/>
          </a:prstGeom>
          <a:solidFill>
            <a:srgbClr val="BBD6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334256" y="2734056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5B8DB8"/>
                </a:solidFill>
              </a:rPr>
              <a:t>Discriminating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334256" y="3218688"/>
            <a:ext cx="3383280" cy="1298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3A4A"/>
                </a:solidFill>
              </a:rPr>
              <a:t>Variable regions (V1-V9) diverge enough
to distinguish species and genera.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065008" y="2697480"/>
            <a:ext cx="3611880" cy="1920240"/>
          </a:xfrm>
          <a:prstGeom prst="rect">
            <a:avLst/>
          </a:prstGeom>
          <a:solidFill>
            <a:srgbClr val="FFFFFF"/>
          </a:solidFill>
          <a:ln w="25400">
            <a:solidFill>
              <a:srgbClr val="D5CF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8065008" y="2697480"/>
            <a:ext cx="3611880" cy="457200"/>
          </a:xfrm>
          <a:prstGeom prst="rect">
            <a:avLst/>
          </a:prstGeom>
          <a:solidFill>
            <a:srgbClr val="D5CF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174736" y="2734056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7B6EAA"/>
                </a:solidFill>
              </a:rPr>
              <a:t>Well-referenced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174736" y="3218688"/>
            <a:ext cx="3383280" cy="1298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3A4A"/>
                </a:solidFill>
              </a:rPr>
              <a:t>Silva 138, Greengenes2, GTDB —
thousands of curated reference sequences.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84048" y="4709160"/>
            <a:ext cx="11411712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B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48640" y="4773168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6E8494"/>
                </a:solidFill>
              </a:rPr>
              <a:t>Workflow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737360" y="4828032"/>
            <a:ext cx="2331720" cy="868680"/>
          </a:xfrm>
          <a:prstGeom prst="rect">
            <a:avLst/>
          </a:prstGeom>
          <a:solidFill>
            <a:srgbClr val="B2DF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810512" y="4892040"/>
            <a:ext cx="2176272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E3A4A"/>
                </a:solidFill>
              </a:rPr>
              <a:t>DNA extraction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4069079" y="5257800"/>
            <a:ext cx="274321" cy="0"/>
          </a:xfrm>
          <a:prstGeom prst="line">
            <a:avLst/>
          </a:prstGeom>
          <a:ln w="25400">
            <a:solidFill>
              <a:srgbClr val="4E9B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Rectangle 46"/>
          <p:cNvSpPr/>
          <p:nvPr/>
        </p:nvSpPr>
        <p:spPr>
          <a:xfrm>
            <a:off x="4343400" y="4828032"/>
            <a:ext cx="2331720" cy="868680"/>
          </a:xfrm>
          <a:prstGeom prst="rect">
            <a:avLst/>
          </a:prstGeom>
          <a:solidFill>
            <a:srgbClr val="BBD6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416552" y="4892040"/>
            <a:ext cx="2176272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E3A4A"/>
                </a:solidFill>
              </a:rPr>
              <a:t>PCR amplification
515F / 806R</a:t>
            </a:r>
          </a:p>
        </p:txBody>
      </p:sp>
      <p:cxnSp>
        <p:nvCxnSpPr>
          <p:cNvPr id="49" name="Connector 48"/>
          <p:cNvCxnSpPr/>
          <p:nvPr/>
        </p:nvCxnSpPr>
        <p:spPr>
          <a:xfrm>
            <a:off x="6675120" y="5257800"/>
            <a:ext cx="274320" cy="0"/>
          </a:xfrm>
          <a:prstGeom prst="line">
            <a:avLst/>
          </a:prstGeom>
          <a:ln w="25400">
            <a:solidFill>
              <a:srgbClr val="4E9B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Rectangle 49"/>
          <p:cNvSpPr/>
          <p:nvPr/>
        </p:nvSpPr>
        <p:spPr>
          <a:xfrm>
            <a:off x="6949440" y="4828032"/>
            <a:ext cx="2331720" cy="868680"/>
          </a:xfrm>
          <a:prstGeom prst="rect">
            <a:avLst/>
          </a:prstGeom>
          <a:solidFill>
            <a:srgbClr val="F5C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022592" y="4892040"/>
            <a:ext cx="2176272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E3A4A"/>
                </a:solidFill>
              </a:rPr>
              <a:t>Illumina sequencing
Paired-end</a:t>
            </a:r>
          </a:p>
        </p:txBody>
      </p:sp>
      <p:cxnSp>
        <p:nvCxnSpPr>
          <p:cNvPr id="52" name="Connector 51"/>
          <p:cNvCxnSpPr/>
          <p:nvPr/>
        </p:nvCxnSpPr>
        <p:spPr>
          <a:xfrm>
            <a:off x="9281159" y="5257800"/>
            <a:ext cx="274321" cy="0"/>
          </a:xfrm>
          <a:prstGeom prst="line">
            <a:avLst/>
          </a:prstGeom>
          <a:ln w="25400">
            <a:solidFill>
              <a:srgbClr val="4E9B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Rectangle 52"/>
          <p:cNvSpPr/>
          <p:nvPr/>
        </p:nvSpPr>
        <p:spPr>
          <a:xfrm>
            <a:off x="9555480" y="4828032"/>
            <a:ext cx="2331720" cy="868680"/>
          </a:xfrm>
          <a:prstGeom prst="rect">
            <a:avLst/>
          </a:prstGeom>
          <a:solidFill>
            <a:srgbClr val="D5CF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9628632" y="4892040"/>
            <a:ext cx="2176272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E3A4A"/>
                </a:solidFill>
              </a:rPr>
              <a:t>QIIME2 pipeline
(this notebook)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618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61872"/>
            <a:ext cx="12188952" cy="54864"/>
          </a:xfrm>
          <a:prstGeom prst="rect">
            <a:avLst/>
          </a:prstGeom>
          <a:solidFill>
            <a:srgbClr val="4E9B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56032" cy="1261872"/>
          </a:xfrm>
          <a:prstGeom prst="rect">
            <a:avLst/>
          </a:prstGeom>
          <a:solidFill>
            <a:srgbClr val="4E9B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84048" y="91440"/>
            <a:ext cx="9601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E3A4A"/>
                </a:solidFill>
              </a:rPr>
              <a:t>Steps 1–2: Import &amp; Quality Check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" y="749808"/>
            <a:ext cx="9601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6E8494"/>
                </a:solidFill>
              </a:rPr>
              <a:t>Bring FASTQs into QIIME2, then inspect per-base quality</a:t>
            </a:r>
          </a:p>
        </p:txBody>
      </p:sp>
      <p:sp>
        <p:nvSpPr>
          <p:cNvPr id="7" name="Rectangle 6"/>
          <p:cNvSpPr/>
          <p:nvPr/>
        </p:nvSpPr>
        <p:spPr>
          <a:xfrm>
            <a:off x="10789920" y="109728"/>
            <a:ext cx="1188720" cy="411480"/>
          </a:xfrm>
          <a:prstGeom prst="rect">
            <a:avLst/>
          </a:prstGeom>
          <a:solidFill>
            <a:srgbClr val="B2DF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808208" y="128016"/>
            <a:ext cx="115214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4E9B97"/>
                </a:solidFill>
              </a:rPr>
              <a:t>Steps 1-2</a:t>
            </a:r>
          </a:p>
        </p:txBody>
      </p:sp>
      <p:sp>
        <p:nvSpPr>
          <p:cNvPr id="9" name="Rectangle 8"/>
          <p:cNvSpPr/>
          <p:nvPr/>
        </p:nvSpPr>
        <p:spPr>
          <a:xfrm>
            <a:off x="384048" y="1463040"/>
            <a:ext cx="5349240" cy="4754880"/>
          </a:xfrm>
          <a:prstGeom prst="rect">
            <a:avLst/>
          </a:prstGeom>
          <a:solidFill>
            <a:srgbClr val="FFFFFF"/>
          </a:solidFill>
          <a:ln w="19050">
            <a:solidFill>
              <a:srgbClr val="B2DF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84048" y="1463040"/>
            <a:ext cx="5349240" cy="457200"/>
          </a:xfrm>
          <a:prstGeom prst="rect">
            <a:avLst/>
          </a:prstGeom>
          <a:solidFill>
            <a:srgbClr val="B2DF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30352" y="1508760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4E9B97"/>
                </a:solidFill>
              </a:rPr>
              <a:t>Step 1 — Import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30352" y="2057400"/>
            <a:ext cx="1828800" cy="530352"/>
          </a:xfrm>
          <a:prstGeom prst="rect">
            <a:avLst/>
          </a:prstGeom>
          <a:solidFill>
            <a:srgbClr val="B2DF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76072" y="2130552"/>
            <a:ext cx="17373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3A4A"/>
                </a:solidFill>
              </a:rPr>
              <a:t>manifest.tsv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50592" y="2148840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3A4A"/>
                </a:solidFill>
              </a:rPr>
              <a:t>Maps sample IDs → FASTQ paths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1444752" y="2587752"/>
            <a:ext cx="0" cy="475488"/>
          </a:xfrm>
          <a:prstGeom prst="line">
            <a:avLst/>
          </a:prstGeom>
          <a:ln w="12700">
            <a:solidFill>
              <a:srgbClr val="4E9B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530352" y="3063240"/>
            <a:ext cx="1828800" cy="530352"/>
          </a:xfrm>
          <a:prstGeom prst="rect">
            <a:avLst/>
          </a:prstGeom>
          <a:solidFill>
            <a:srgbClr val="BBD6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76072" y="3136392"/>
            <a:ext cx="17373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3A4A"/>
                </a:solidFill>
              </a:rPr>
              <a:t>qiime tools import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450592" y="3154680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3A4A"/>
                </a:solidFill>
              </a:rPr>
              <a:t>Wraps FASTQs into .qza artifact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1444752" y="3593592"/>
            <a:ext cx="0" cy="475488"/>
          </a:xfrm>
          <a:prstGeom prst="line">
            <a:avLst/>
          </a:prstGeom>
          <a:ln w="12700">
            <a:solidFill>
              <a:srgbClr val="4E9B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530352" y="4069080"/>
            <a:ext cx="1828800" cy="530352"/>
          </a:xfrm>
          <a:prstGeom prst="rect">
            <a:avLst/>
          </a:prstGeom>
          <a:solidFill>
            <a:srgbClr val="F5C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76072" y="4142232"/>
            <a:ext cx="17373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3A4A"/>
                </a:solidFill>
              </a:rPr>
              <a:t>demux summarize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450592" y="4160520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3A4A"/>
                </a:solidFill>
              </a:rPr>
              <a:t>Generates per-sample quality .qzv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1444752" y="4599432"/>
            <a:ext cx="0" cy="475488"/>
          </a:xfrm>
          <a:prstGeom prst="line">
            <a:avLst/>
          </a:prstGeom>
          <a:ln w="12700">
            <a:solidFill>
              <a:srgbClr val="4E9B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530352" y="5074920"/>
            <a:ext cx="1828800" cy="530352"/>
          </a:xfrm>
          <a:prstGeom prst="rect">
            <a:avLst/>
          </a:prstGeom>
          <a:solidFill>
            <a:srgbClr val="D5CF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76072" y="5148072"/>
            <a:ext cx="17373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3A4A"/>
                </a:solidFill>
              </a:rPr>
              <a:t>view.qiime2.org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450592" y="5166360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3A4A"/>
                </a:solidFill>
              </a:rPr>
              <a:t>Upload .qzv to visualize interactively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916168" y="1463040"/>
            <a:ext cx="5879592" cy="4754880"/>
          </a:xfrm>
          <a:prstGeom prst="rect">
            <a:avLst/>
          </a:prstGeom>
          <a:solidFill>
            <a:srgbClr val="FFFFFF"/>
          </a:solidFill>
          <a:ln w="19050">
            <a:solidFill>
              <a:srgbClr val="BBD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916168" y="1463040"/>
            <a:ext cx="5879592" cy="457200"/>
          </a:xfrm>
          <a:prstGeom prst="rect">
            <a:avLst/>
          </a:prstGeom>
          <a:solidFill>
            <a:srgbClr val="BBD6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062472" y="1508760"/>
            <a:ext cx="5577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5B8DB8"/>
                </a:solidFill>
              </a:rPr>
              <a:t>Step 2 — Quality Plot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062472" y="2057400"/>
            <a:ext cx="5577840" cy="777240"/>
          </a:xfrm>
          <a:prstGeom prst="rect">
            <a:avLst/>
          </a:prstGeom>
          <a:solidFill>
            <a:srgbClr val="C3E6C8"/>
          </a:solidFill>
          <a:ln w="12700">
            <a:solidFill>
              <a:srgbClr val="5EA6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199632" y="2112264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5EA66A"/>
                </a:solidFill>
              </a:rPr>
              <a:t>Q ≥ 30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06640" y="2167128"/>
            <a:ext cx="4023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3A4A"/>
                </a:solidFill>
              </a:rPr>
              <a:t>Excellent — 99.9% accuracy  →  keep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062472" y="3044952"/>
            <a:ext cx="5577840" cy="777240"/>
          </a:xfrm>
          <a:prstGeom prst="rect">
            <a:avLst/>
          </a:prstGeom>
          <a:solidFill>
            <a:srgbClr val="FBF0B2"/>
          </a:solidFill>
          <a:ln w="12700">
            <a:solidFill>
              <a:srgbClr val="B89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199632" y="3099816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B89A1A"/>
                </a:solidFill>
              </a:rPr>
              <a:t>Q 20–29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06640" y="3154680"/>
            <a:ext cx="4023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3A4A"/>
                </a:solidFill>
              </a:rPr>
              <a:t>Acceptable — 99% accuracy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062472" y="4032504"/>
            <a:ext cx="5577840" cy="777240"/>
          </a:xfrm>
          <a:prstGeom prst="rect">
            <a:avLst/>
          </a:prstGeom>
          <a:solidFill>
            <a:srgbClr val="F5C9BE"/>
          </a:solidFill>
          <a:ln w="12700">
            <a:solidFill>
              <a:srgbClr val="D974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199632" y="4087368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D9745A"/>
                </a:solidFill>
              </a:rPr>
              <a:t>Q &lt; 20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406640" y="4142232"/>
            <a:ext cx="4023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3A4A"/>
                </a:solidFill>
              </a:rPr>
              <a:t>Low quality — consider truncating here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062472" y="5029200"/>
            <a:ext cx="5577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6E8494"/>
                </a:solidFill>
              </a:rPr>
              <a:t>Key rule: R1 and R2 must still overlap
by at least 20 bp after truncation.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618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61872"/>
            <a:ext cx="12188952" cy="54864"/>
          </a:xfrm>
          <a:prstGeom prst="rect">
            <a:avLst/>
          </a:prstGeom>
          <a:solidFill>
            <a:srgbClr val="4E9B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56032" cy="1261872"/>
          </a:xfrm>
          <a:prstGeom prst="rect">
            <a:avLst/>
          </a:prstGeom>
          <a:solidFill>
            <a:srgbClr val="4E9B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84048" y="91440"/>
            <a:ext cx="9601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E3A4A"/>
                </a:solidFill>
              </a:rPr>
              <a:t>Steps 3–4: Remove Primers &amp; Denoising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" y="749808"/>
            <a:ext cx="9601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6E8494"/>
                </a:solidFill>
              </a:rPr>
              <a:t>Cutadapt strips primers — DADA2 corrects errors and calls exact ASVs</a:t>
            </a:r>
          </a:p>
        </p:txBody>
      </p:sp>
      <p:sp>
        <p:nvSpPr>
          <p:cNvPr id="7" name="Rectangle 6"/>
          <p:cNvSpPr/>
          <p:nvPr/>
        </p:nvSpPr>
        <p:spPr>
          <a:xfrm>
            <a:off x="10789920" y="109728"/>
            <a:ext cx="1188720" cy="411480"/>
          </a:xfrm>
          <a:prstGeom prst="rect">
            <a:avLst/>
          </a:prstGeom>
          <a:solidFill>
            <a:srgbClr val="B2DF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808208" y="128016"/>
            <a:ext cx="115214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4E9B97"/>
                </a:solidFill>
              </a:rPr>
              <a:t>Steps 3-4</a:t>
            </a:r>
          </a:p>
        </p:txBody>
      </p:sp>
      <p:sp>
        <p:nvSpPr>
          <p:cNvPr id="9" name="Rectangle 8"/>
          <p:cNvSpPr/>
          <p:nvPr/>
        </p:nvSpPr>
        <p:spPr>
          <a:xfrm>
            <a:off x="384048" y="1463040"/>
            <a:ext cx="5212080" cy="2286000"/>
          </a:xfrm>
          <a:prstGeom prst="rect">
            <a:avLst/>
          </a:prstGeom>
          <a:solidFill>
            <a:srgbClr val="FFFFFF"/>
          </a:solidFill>
          <a:ln w="19050">
            <a:solidFill>
              <a:srgbClr val="B2DF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84048" y="1463040"/>
            <a:ext cx="5212080" cy="457200"/>
          </a:xfrm>
          <a:prstGeom prst="rect">
            <a:avLst/>
          </a:prstGeom>
          <a:solidFill>
            <a:srgbClr val="B2DF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30352" y="1508760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4E9B97"/>
                </a:solidFill>
              </a:rPr>
              <a:t>Step 3 — Cutadapt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30352" y="1993392"/>
            <a:ext cx="1508760" cy="274320"/>
          </a:xfrm>
          <a:prstGeom prst="rect">
            <a:avLst/>
          </a:prstGeom>
          <a:solidFill>
            <a:srgbClr val="B2DF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76072" y="2029968"/>
            <a:ext cx="1417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4E9B97"/>
                </a:solidFill>
              </a:rPr>
              <a:t>-g  515F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21408" y="2039112"/>
            <a:ext cx="33375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3A4A"/>
                </a:solidFill>
              </a:rPr>
              <a:t>Forward primer at 5' end of R1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30352" y="2331720"/>
            <a:ext cx="1508760" cy="274320"/>
          </a:xfrm>
          <a:prstGeom prst="rect">
            <a:avLst/>
          </a:prstGeom>
          <a:solidFill>
            <a:srgbClr val="B2DF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76072" y="2368296"/>
            <a:ext cx="1417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4E9B97"/>
                </a:solidFill>
              </a:rPr>
              <a:t>-G  806R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21408" y="2377440"/>
            <a:ext cx="33375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3A4A"/>
                </a:solidFill>
              </a:rPr>
              <a:t>Reverse primer at 5' end of R2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30352" y="2670048"/>
            <a:ext cx="1508760" cy="274320"/>
          </a:xfrm>
          <a:prstGeom prst="rect">
            <a:avLst/>
          </a:prstGeom>
          <a:solidFill>
            <a:srgbClr val="B2DF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76072" y="2706624"/>
            <a:ext cx="1417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4E9B97"/>
                </a:solidFill>
              </a:rPr>
              <a:t>-a  adapter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121408" y="2715768"/>
            <a:ext cx="33375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3A4A"/>
                </a:solidFill>
              </a:rPr>
              <a:t>RC of 806R at 3' end of R1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30352" y="3008376"/>
            <a:ext cx="1508760" cy="274320"/>
          </a:xfrm>
          <a:prstGeom prst="rect">
            <a:avLst/>
          </a:prstGeom>
          <a:solidFill>
            <a:srgbClr val="B2DF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6072" y="3044952"/>
            <a:ext cx="1417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4E9B97"/>
                </a:solidFill>
              </a:rPr>
              <a:t>-A  adapter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21408" y="3054096"/>
            <a:ext cx="33375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3A4A"/>
                </a:solidFill>
              </a:rPr>
              <a:t>RC of 515F at 3' end of R2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30352" y="3346704"/>
            <a:ext cx="1508760" cy="274320"/>
          </a:xfrm>
          <a:prstGeom prst="rect">
            <a:avLst/>
          </a:prstGeom>
          <a:solidFill>
            <a:srgbClr val="B2DF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76072" y="3383280"/>
            <a:ext cx="1417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4E9B97"/>
                </a:solidFill>
              </a:rPr>
              <a:t>--times 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121408" y="3392424"/>
            <a:ext cx="33375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3A4A"/>
                </a:solidFill>
              </a:rPr>
              <a:t>Run twice to catch primer dimers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035040" y="1463040"/>
            <a:ext cx="5760720" cy="2286000"/>
          </a:xfrm>
          <a:prstGeom prst="rect">
            <a:avLst/>
          </a:prstGeom>
          <a:solidFill>
            <a:srgbClr val="FFFFFF"/>
          </a:solidFill>
          <a:ln w="19050">
            <a:solidFill>
              <a:srgbClr val="F5C9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035040" y="1463040"/>
            <a:ext cx="5760720" cy="457200"/>
          </a:xfrm>
          <a:prstGeom prst="rect">
            <a:avLst/>
          </a:prstGeom>
          <a:solidFill>
            <a:srgbClr val="F5C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181344" y="1508760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D9745A"/>
                </a:solidFill>
              </a:rPr>
              <a:t>Step 4 — DADA2 (4 steps in one)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181344" y="1993392"/>
            <a:ext cx="320040" cy="320040"/>
          </a:xfrm>
          <a:prstGeom prst="rect">
            <a:avLst/>
          </a:prstGeom>
          <a:solidFill>
            <a:srgbClr val="D974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181344" y="2029968"/>
            <a:ext cx="320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65392" y="202996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3A4A"/>
                </a:solidFill>
              </a:rPr>
              <a:t>Quality filter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58200" y="2039112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E8494"/>
                </a:solidFill>
              </a:rPr>
              <a:t>Remove reads with expected errors &gt; maxEE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181344" y="2404872"/>
            <a:ext cx="320040" cy="320040"/>
          </a:xfrm>
          <a:prstGeom prst="rect">
            <a:avLst/>
          </a:prstGeom>
          <a:solidFill>
            <a:srgbClr val="D974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181344" y="2441448"/>
            <a:ext cx="320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65392" y="244144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3A4A"/>
                </a:solidFill>
              </a:rPr>
              <a:t>Learn error model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458200" y="2450592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E8494"/>
                </a:solidFill>
              </a:rPr>
              <a:t>Estimate per-base error rates from the data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181344" y="2816352"/>
            <a:ext cx="320040" cy="320040"/>
          </a:xfrm>
          <a:prstGeom prst="rect">
            <a:avLst/>
          </a:prstGeom>
          <a:solidFill>
            <a:srgbClr val="D974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181344" y="2852928"/>
            <a:ext cx="320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65392" y="285292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3A4A"/>
                </a:solidFill>
              </a:rPr>
              <a:t>Denoise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458200" y="2862072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E8494"/>
                </a:solidFill>
              </a:rPr>
              <a:t>Correct errors → exact biological sequences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181344" y="3227832"/>
            <a:ext cx="320040" cy="320040"/>
          </a:xfrm>
          <a:prstGeom prst="rect">
            <a:avLst/>
          </a:prstGeom>
          <a:solidFill>
            <a:srgbClr val="D974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181344" y="3264408"/>
            <a:ext cx="320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65392" y="326440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3A4A"/>
                </a:solidFill>
              </a:rPr>
              <a:t>Remove chimeras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458200" y="3273552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E8494"/>
                </a:solidFill>
              </a:rPr>
              <a:t>Discard sequences formed from two parents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5596128" y="2606040"/>
            <a:ext cx="438912" cy="0"/>
          </a:xfrm>
          <a:prstGeom prst="line">
            <a:avLst/>
          </a:prstGeom>
          <a:ln w="25400">
            <a:solidFill>
              <a:srgbClr val="4E9B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5349240" y="2377440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6E8494"/>
                </a:solidFill>
              </a:rPr>
              <a:t>trimmed reads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84048" y="3886200"/>
            <a:ext cx="11411712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B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66928" y="3950208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E3A4A"/>
                </a:solidFill>
              </a:rPr>
              <a:t>ASVs  vs  OTUs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21792" y="4462272"/>
            <a:ext cx="3337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6E8494"/>
                </a:solidFill>
              </a:rPr>
              <a:t/>
            </a:r>
          </a:p>
        </p:txBody>
      </p:sp>
      <p:sp>
        <p:nvSpPr>
          <p:cNvPr id="51" name="Rectangle 50"/>
          <p:cNvSpPr/>
          <p:nvPr/>
        </p:nvSpPr>
        <p:spPr>
          <a:xfrm>
            <a:off x="4206240" y="4434840"/>
            <a:ext cx="3657600" cy="347472"/>
          </a:xfrm>
          <a:prstGeom prst="rect">
            <a:avLst/>
          </a:prstGeom>
          <a:solidFill>
            <a:srgbClr val="BBD6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261103" y="4462272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5B8DB8"/>
                </a:solidFill>
              </a:rPr>
              <a:t>OTUs  (traditional)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092440" y="4434840"/>
            <a:ext cx="3474720" cy="347472"/>
          </a:xfrm>
          <a:prstGeom prst="rect">
            <a:avLst/>
          </a:prstGeom>
          <a:solidFill>
            <a:srgbClr val="F5C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147304" y="4462272"/>
            <a:ext cx="33832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D9745A"/>
                </a:solidFill>
              </a:rPr>
              <a:t>ASVs  (DADA2)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66928" y="4828032"/>
            <a:ext cx="3429000" cy="301752"/>
          </a:xfrm>
          <a:prstGeom prst="rect">
            <a:avLst/>
          </a:prstGeom>
          <a:solidFill>
            <a:srgbClr val="E4EB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21792" y="4873752"/>
            <a:ext cx="33375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3A4A"/>
                </a:solidFill>
              </a:rPr>
              <a:t>Similarity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206240" y="4828032"/>
            <a:ext cx="3657600" cy="301752"/>
          </a:xfrm>
          <a:prstGeom prst="rect">
            <a:avLst/>
          </a:prstGeom>
          <a:solidFill>
            <a:srgbClr val="E4EB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4261103" y="4873752"/>
            <a:ext cx="3566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3A4A"/>
                </a:solidFill>
              </a:rPr>
              <a:t>97% clustering</a:t>
            </a:r>
          </a:p>
        </p:txBody>
      </p:sp>
      <p:sp>
        <p:nvSpPr>
          <p:cNvPr id="59" name="Rectangle 58"/>
          <p:cNvSpPr/>
          <p:nvPr/>
        </p:nvSpPr>
        <p:spPr>
          <a:xfrm>
            <a:off x="8092440" y="4828032"/>
            <a:ext cx="3474720" cy="301752"/>
          </a:xfrm>
          <a:prstGeom prst="rect">
            <a:avLst/>
          </a:prstGeom>
          <a:solidFill>
            <a:srgbClr val="E4EB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8147304" y="4873752"/>
            <a:ext cx="3383279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3A4A"/>
                </a:solidFill>
              </a:rPr>
              <a:t>Exact sequence  (100%)</a:t>
            </a:r>
          </a:p>
        </p:txBody>
      </p:sp>
      <p:sp>
        <p:nvSpPr>
          <p:cNvPr id="61" name="Rectangle 60"/>
          <p:cNvSpPr/>
          <p:nvPr/>
        </p:nvSpPr>
        <p:spPr>
          <a:xfrm>
            <a:off x="566928" y="5157216"/>
            <a:ext cx="3429000" cy="3017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21792" y="5202936"/>
            <a:ext cx="33375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3A4A"/>
                </a:solidFill>
              </a:rPr>
              <a:t>Resolution</a:t>
            </a:r>
          </a:p>
        </p:txBody>
      </p:sp>
      <p:sp>
        <p:nvSpPr>
          <p:cNvPr id="63" name="Rectangle 62"/>
          <p:cNvSpPr/>
          <p:nvPr/>
        </p:nvSpPr>
        <p:spPr>
          <a:xfrm>
            <a:off x="4206240" y="5157216"/>
            <a:ext cx="3657600" cy="3017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4261103" y="5202936"/>
            <a:ext cx="3566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3A4A"/>
                </a:solidFill>
              </a:rPr>
              <a:t>Genus / species level</a:t>
            </a:r>
          </a:p>
        </p:txBody>
      </p:sp>
      <p:sp>
        <p:nvSpPr>
          <p:cNvPr id="65" name="Rectangle 64"/>
          <p:cNvSpPr/>
          <p:nvPr/>
        </p:nvSpPr>
        <p:spPr>
          <a:xfrm>
            <a:off x="8092440" y="5157216"/>
            <a:ext cx="3474720" cy="3017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8147304" y="5202936"/>
            <a:ext cx="3383279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3A4A"/>
                </a:solidFill>
              </a:rPr>
              <a:t>Sub-species, strains</a:t>
            </a:r>
          </a:p>
        </p:txBody>
      </p:sp>
      <p:sp>
        <p:nvSpPr>
          <p:cNvPr id="67" name="Rectangle 66"/>
          <p:cNvSpPr/>
          <p:nvPr/>
        </p:nvSpPr>
        <p:spPr>
          <a:xfrm>
            <a:off x="566928" y="5486400"/>
            <a:ext cx="3429000" cy="301752"/>
          </a:xfrm>
          <a:prstGeom prst="rect">
            <a:avLst/>
          </a:prstGeom>
          <a:solidFill>
            <a:srgbClr val="E4EB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621792" y="5532120"/>
            <a:ext cx="33375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3A4A"/>
                </a:solidFill>
              </a:rPr>
              <a:t>Reproducibility</a:t>
            </a:r>
          </a:p>
        </p:txBody>
      </p:sp>
      <p:sp>
        <p:nvSpPr>
          <p:cNvPr id="69" name="Rectangle 68"/>
          <p:cNvSpPr/>
          <p:nvPr/>
        </p:nvSpPr>
        <p:spPr>
          <a:xfrm>
            <a:off x="4206240" y="5486400"/>
            <a:ext cx="3657600" cy="301752"/>
          </a:xfrm>
          <a:prstGeom prst="rect">
            <a:avLst/>
          </a:prstGeom>
          <a:solidFill>
            <a:srgbClr val="E4EB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4261103" y="5532120"/>
            <a:ext cx="3566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3A4A"/>
                </a:solidFill>
              </a:rPr>
              <a:t>Depends on threshold &amp; DB</a:t>
            </a:r>
          </a:p>
        </p:txBody>
      </p:sp>
      <p:sp>
        <p:nvSpPr>
          <p:cNvPr id="71" name="Rectangle 70"/>
          <p:cNvSpPr/>
          <p:nvPr/>
        </p:nvSpPr>
        <p:spPr>
          <a:xfrm>
            <a:off x="8092440" y="5486400"/>
            <a:ext cx="3474720" cy="301752"/>
          </a:xfrm>
          <a:prstGeom prst="rect">
            <a:avLst/>
          </a:prstGeom>
          <a:solidFill>
            <a:srgbClr val="E4EB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8147304" y="5532120"/>
            <a:ext cx="3383279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3A4A"/>
                </a:solidFill>
              </a:rPr>
              <a:t>Consistent across studies</a:t>
            </a:r>
          </a:p>
        </p:txBody>
      </p:sp>
      <p:sp>
        <p:nvSpPr>
          <p:cNvPr id="73" name="Rectangle 72"/>
          <p:cNvSpPr/>
          <p:nvPr/>
        </p:nvSpPr>
        <p:spPr>
          <a:xfrm>
            <a:off x="566928" y="5815584"/>
            <a:ext cx="3429000" cy="3017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621792" y="5861304"/>
            <a:ext cx="33375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3A4A"/>
                </a:solidFill>
              </a:rPr>
              <a:t>Recommended?</a:t>
            </a:r>
          </a:p>
        </p:txBody>
      </p:sp>
      <p:sp>
        <p:nvSpPr>
          <p:cNvPr id="75" name="Rectangle 74"/>
          <p:cNvSpPr/>
          <p:nvPr/>
        </p:nvSpPr>
        <p:spPr>
          <a:xfrm>
            <a:off x="4206240" y="5815584"/>
            <a:ext cx="3657600" cy="3017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4261103" y="5861304"/>
            <a:ext cx="3566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3A4A"/>
                </a:solidFill>
              </a:rPr>
              <a:t>Legacy pipelines only</a:t>
            </a:r>
          </a:p>
        </p:txBody>
      </p:sp>
      <p:sp>
        <p:nvSpPr>
          <p:cNvPr id="77" name="Rectangle 76"/>
          <p:cNvSpPr/>
          <p:nvPr/>
        </p:nvSpPr>
        <p:spPr>
          <a:xfrm>
            <a:off x="8092440" y="5815584"/>
            <a:ext cx="3474720" cy="3017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8147304" y="5861304"/>
            <a:ext cx="3383279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5EA66A"/>
                </a:solidFill>
              </a:rPr>
              <a:t>✓  Current standard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618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61872"/>
            <a:ext cx="12188952" cy="54864"/>
          </a:xfrm>
          <a:prstGeom prst="rect">
            <a:avLst/>
          </a:prstGeom>
          <a:solidFill>
            <a:srgbClr val="4E9B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56032" cy="1261872"/>
          </a:xfrm>
          <a:prstGeom prst="rect">
            <a:avLst/>
          </a:prstGeom>
          <a:solidFill>
            <a:srgbClr val="4E9B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84048" y="91440"/>
            <a:ext cx="9601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E3A4A"/>
                </a:solidFill>
              </a:rPr>
              <a:t>Steps 6–7: Phylogeny &amp; Diversity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" y="749808"/>
            <a:ext cx="9601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6E8494"/>
                </a:solidFill>
              </a:rPr>
              <a:t>Build a tree, then measure richness within and between samples</a:t>
            </a:r>
          </a:p>
        </p:txBody>
      </p:sp>
      <p:sp>
        <p:nvSpPr>
          <p:cNvPr id="7" name="Rectangle 6"/>
          <p:cNvSpPr/>
          <p:nvPr/>
        </p:nvSpPr>
        <p:spPr>
          <a:xfrm>
            <a:off x="10789920" y="109728"/>
            <a:ext cx="1188720" cy="411480"/>
          </a:xfrm>
          <a:prstGeom prst="rect">
            <a:avLst/>
          </a:prstGeom>
          <a:solidFill>
            <a:srgbClr val="B2DF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808208" y="128016"/>
            <a:ext cx="115214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4E9B97"/>
                </a:solidFill>
              </a:rPr>
              <a:t>Steps 6-7</a:t>
            </a:r>
          </a:p>
        </p:txBody>
      </p:sp>
      <p:sp>
        <p:nvSpPr>
          <p:cNvPr id="9" name="Rectangle 8"/>
          <p:cNvSpPr/>
          <p:nvPr/>
        </p:nvSpPr>
        <p:spPr>
          <a:xfrm>
            <a:off x="384048" y="1463040"/>
            <a:ext cx="3520440" cy="2286000"/>
          </a:xfrm>
          <a:prstGeom prst="rect">
            <a:avLst/>
          </a:prstGeom>
          <a:solidFill>
            <a:srgbClr val="FFFFFF"/>
          </a:solidFill>
          <a:ln w="19050">
            <a:solidFill>
              <a:srgbClr val="B2DF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84048" y="1463040"/>
            <a:ext cx="3520440" cy="457200"/>
          </a:xfrm>
          <a:prstGeom prst="rect">
            <a:avLst/>
          </a:prstGeom>
          <a:solidFill>
            <a:srgbClr val="B2DF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30352" y="1508760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E9B97"/>
                </a:solidFill>
              </a:rPr>
              <a:t>Step 6 — Phylogeny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1993392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3A4A"/>
                </a:solidFill>
              </a:rPr>
              <a:t>1. MAFFT alignment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237744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3A4A"/>
                </a:solidFill>
              </a:rPr>
              <a:t>2. Mask uninformative positions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2761488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3A4A"/>
                </a:solidFill>
              </a:rPr>
              <a:t>3. FastTree → rooted tree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333756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6E8494"/>
                </a:solidFill>
              </a:rPr>
              <a:t>Required for UniFrac metrics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087368" y="1463040"/>
            <a:ext cx="3703320" cy="2286000"/>
          </a:xfrm>
          <a:prstGeom prst="rect">
            <a:avLst/>
          </a:prstGeom>
          <a:solidFill>
            <a:srgbClr val="FFFFFF"/>
          </a:solidFill>
          <a:ln w="19050">
            <a:solidFill>
              <a:srgbClr val="BBD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087368" y="1463040"/>
            <a:ext cx="3703320" cy="457200"/>
          </a:xfrm>
          <a:prstGeom prst="rect">
            <a:avLst/>
          </a:prstGeom>
          <a:solidFill>
            <a:srgbClr val="BBD6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233672" y="1508760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5B8DB8"/>
                </a:solidFill>
              </a:rPr>
              <a:t>Alpha diversity  (within sample)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33672" y="1993392"/>
            <a:ext cx="1417320" cy="292608"/>
          </a:xfrm>
          <a:prstGeom prst="rect">
            <a:avLst/>
          </a:prstGeom>
          <a:solidFill>
            <a:srgbClr val="BBD6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79392" y="2011680"/>
            <a:ext cx="1325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5B8DB8"/>
                </a:solidFill>
              </a:rPr>
              <a:t>Shannon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733288" y="2020824"/>
            <a:ext cx="193852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3A4A"/>
                </a:solidFill>
              </a:rPr>
              <a:t>Richness + evenness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233672" y="2377440"/>
            <a:ext cx="1417320" cy="292608"/>
          </a:xfrm>
          <a:prstGeom prst="rect">
            <a:avLst/>
          </a:prstGeom>
          <a:solidFill>
            <a:srgbClr val="BBD6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279392" y="2395728"/>
            <a:ext cx="1325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5B8DB8"/>
                </a:solidFill>
              </a:rPr>
              <a:t>Observed features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733288" y="2404872"/>
            <a:ext cx="193852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3A4A"/>
                </a:solidFill>
              </a:rPr>
              <a:t># unique ASVs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33672" y="2761488"/>
            <a:ext cx="1417320" cy="292608"/>
          </a:xfrm>
          <a:prstGeom prst="rect">
            <a:avLst/>
          </a:prstGeom>
          <a:solidFill>
            <a:srgbClr val="BBD6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279392" y="2779776"/>
            <a:ext cx="1325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5B8DB8"/>
                </a:solidFill>
              </a:rPr>
              <a:t>Faith's PD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733288" y="2788920"/>
            <a:ext cx="193852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3A4A"/>
                </a:solidFill>
              </a:rPr>
              <a:t>Phylogenetic diversity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233672" y="3145536"/>
            <a:ext cx="1417320" cy="292608"/>
          </a:xfrm>
          <a:prstGeom prst="rect">
            <a:avLst/>
          </a:prstGeom>
          <a:solidFill>
            <a:srgbClr val="BBD6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279392" y="3163824"/>
            <a:ext cx="1325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5B8DB8"/>
                </a:solidFill>
              </a:rPr>
              <a:t>Evenness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733288" y="3172968"/>
            <a:ext cx="193852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3A4A"/>
                </a:solidFill>
              </a:rPr>
              <a:t>How uniform the community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973568" y="1463040"/>
            <a:ext cx="3822191" cy="2286000"/>
          </a:xfrm>
          <a:prstGeom prst="rect">
            <a:avLst/>
          </a:prstGeom>
          <a:solidFill>
            <a:srgbClr val="FFFFFF"/>
          </a:solidFill>
          <a:ln w="19050">
            <a:solidFill>
              <a:srgbClr val="D5CF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973568" y="1463040"/>
            <a:ext cx="3822191" cy="457200"/>
          </a:xfrm>
          <a:prstGeom prst="rect">
            <a:avLst/>
          </a:prstGeom>
          <a:solidFill>
            <a:srgbClr val="D5CF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119872" y="1508760"/>
            <a:ext cx="3566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7B6EAA"/>
                </a:solidFill>
              </a:rPr>
              <a:t>Beta diversity  (between samples)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119872" y="1993392"/>
            <a:ext cx="1554480" cy="292608"/>
          </a:xfrm>
          <a:prstGeom prst="rect">
            <a:avLst/>
          </a:prstGeom>
          <a:solidFill>
            <a:srgbClr val="D5CF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165592" y="2011680"/>
            <a:ext cx="1463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7B6EAA"/>
                </a:solidFill>
              </a:rPr>
              <a:t>Bray-Curtis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738360" y="2020824"/>
            <a:ext cx="1920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3A4A"/>
                </a:solidFill>
              </a:rPr>
              <a:t>Abundance-based, no phylogeny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119872" y="2377440"/>
            <a:ext cx="1554480" cy="292608"/>
          </a:xfrm>
          <a:prstGeom prst="rect">
            <a:avLst/>
          </a:prstGeom>
          <a:solidFill>
            <a:srgbClr val="D5CF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165592" y="2395728"/>
            <a:ext cx="1463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7B6EAA"/>
                </a:solidFill>
              </a:rPr>
              <a:t>Unweighted UniFrac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738360" y="2404872"/>
            <a:ext cx="1920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3A4A"/>
                </a:solidFill>
              </a:rPr>
              <a:t>Presence/absence + phylogeny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119872" y="2761488"/>
            <a:ext cx="1554480" cy="292608"/>
          </a:xfrm>
          <a:prstGeom prst="rect">
            <a:avLst/>
          </a:prstGeom>
          <a:solidFill>
            <a:srgbClr val="D5CF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165592" y="2779776"/>
            <a:ext cx="1463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7B6EAA"/>
                </a:solidFill>
              </a:rPr>
              <a:t>Weighted UniFrac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738360" y="2788920"/>
            <a:ext cx="1920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3A4A"/>
                </a:solidFill>
              </a:rPr>
              <a:t>Abundance + phylogeny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119872" y="3145536"/>
            <a:ext cx="1554480" cy="292608"/>
          </a:xfrm>
          <a:prstGeom prst="rect">
            <a:avLst/>
          </a:prstGeom>
          <a:solidFill>
            <a:srgbClr val="D5CF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165592" y="3163824"/>
            <a:ext cx="1463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7B6EAA"/>
                </a:solidFill>
              </a:rPr>
              <a:t>Jaccard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738360" y="3172968"/>
            <a:ext cx="1920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3A4A"/>
                </a:solidFill>
              </a:rPr>
              <a:t>Presence/absence only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84048" y="3886200"/>
            <a:ext cx="5577840" cy="2331720"/>
          </a:xfrm>
          <a:prstGeom prst="rect">
            <a:avLst/>
          </a:prstGeom>
          <a:solidFill>
            <a:srgbClr val="FFFFFF"/>
          </a:solidFill>
          <a:ln w="19050">
            <a:solidFill>
              <a:srgbClr val="F5C9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384048" y="3886200"/>
            <a:ext cx="5577840" cy="457200"/>
          </a:xfrm>
          <a:prstGeom prst="rect">
            <a:avLst/>
          </a:prstGeom>
          <a:solidFill>
            <a:srgbClr val="F5C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30352" y="393192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D9745A"/>
                </a:solidFill>
              </a:rPr>
              <a:t>Rarefaction — why it matters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30352" y="4407408"/>
            <a:ext cx="530352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3A4A"/>
                </a:solidFill>
              </a:rPr>
              <a:t>Samples have different sequencing depths.
Rarefaction subsamples all to the same depth
so diversity comparisons are fair.
Sampling depth = 80% of the minimum sample count
(auto-detected from denoising stats in the notebook)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144768" y="3886200"/>
            <a:ext cx="5650992" cy="2331720"/>
          </a:xfrm>
          <a:prstGeom prst="rect">
            <a:avLst/>
          </a:prstGeom>
          <a:solidFill>
            <a:srgbClr val="FFFFFF"/>
          </a:solidFill>
          <a:ln w="19050">
            <a:solidFill>
              <a:srgbClr val="BBD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6144768" y="3886200"/>
            <a:ext cx="5650992" cy="457200"/>
          </a:xfrm>
          <a:prstGeom prst="rect">
            <a:avLst/>
          </a:prstGeom>
          <a:solidFill>
            <a:srgbClr val="BBD6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291072" y="3931920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5B8DB8"/>
                </a:solidFill>
              </a:rPr>
              <a:t>PCoA — reading the plot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291072" y="4434840"/>
            <a:ext cx="2560320" cy="1600200"/>
          </a:xfrm>
          <a:prstGeom prst="rect">
            <a:avLst/>
          </a:prstGeom>
          <a:solidFill>
            <a:srgbClr val="E4EB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6519672" y="4663440"/>
            <a:ext cx="182880" cy="182880"/>
          </a:xfrm>
          <a:prstGeom prst="ellipse">
            <a:avLst/>
          </a:prstGeom>
          <a:solidFill>
            <a:srgbClr val="4E9B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6748272" y="4937760"/>
            <a:ext cx="182880" cy="182880"/>
          </a:xfrm>
          <a:prstGeom prst="ellipse">
            <a:avLst/>
          </a:prstGeom>
          <a:solidFill>
            <a:srgbClr val="4E9B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6611112" y="4800600"/>
            <a:ext cx="182880" cy="182880"/>
          </a:xfrm>
          <a:prstGeom prst="ellipse">
            <a:avLst/>
          </a:prstGeom>
          <a:solidFill>
            <a:srgbClr val="4E9B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7754112" y="5166360"/>
            <a:ext cx="182880" cy="182880"/>
          </a:xfrm>
          <a:prstGeom prst="ellipse">
            <a:avLst/>
          </a:prstGeom>
          <a:solidFill>
            <a:srgbClr val="D974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7936992" y="5440680"/>
            <a:ext cx="182880" cy="182880"/>
          </a:xfrm>
          <a:prstGeom prst="ellipse">
            <a:avLst/>
          </a:prstGeom>
          <a:solidFill>
            <a:srgbClr val="D974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7799831" y="4937760"/>
            <a:ext cx="182880" cy="182880"/>
          </a:xfrm>
          <a:prstGeom prst="ellipse">
            <a:avLst/>
          </a:prstGeom>
          <a:solidFill>
            <a:srgbClr val="D974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8979408" y="4462272"/>
            <a:ext cx="26517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3A4A"/>
                </a:solidFill>
              </a:rPr>
              <a:t>Samples close together
= similar microbiome
Samples far apart
= different microbiome</a:t>
            </a:r>
          </a:p>
        </p:txBody>
      </p:sp>
      <p:sp>
        <p:nvSpPr>
          <p:cNvPr id="61" name="Rectangle 60"/>
          <p:cNvSpPr/>
          <p:nvPr/>
        </p:nvSpPr>
        <p:spPr>
          <a:xfrm>
            <a:off x="8979408" y="5669280"/>
            <a:ext cx="201168" cy="201168"/>
          </a:xfrm>
          <a:prstGeom prst="rect">
            <a:avLst/>
          </a:prstGeom>
          <a:solidFill>
            <a:srgbClr val="4E9B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9235440" y="5687568"/>
            <a:ext cx="1371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E9B97"/>
                </a:solidFill>
              </a:rPr>
              <a:t>Control</a:t>
            </a:r>
          </a:p>
        </p:txBody>
      </p:sp>
      <p:sp>
        <p:nvSpPr>
          <p:cNvPr id="63" name="Rectangle 62"/>
          <p:cNvSpPr/>
          <p:nvPr/>
        </p:nvSpPr>
        <p:spPr>
          <a:xfrm>
            <a:off x="8979408" y="5943600"/>
            <a:ext cx="201168" cy="201168"/>
          </a:xfrm>
          <a:prstGeom prst="rect">
            <a:avLst/>
          </a:prstGeom>
          <a:solidFill>
            <a:srgbClr val="D974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9235440" y="5961888"/>
            <a:ext cx="1371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9745A"/>
                </a:solidFill>
              </a:rPr>
              <a:t>Treated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618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61872"/>
            <a:ext cx="12188952" cy="54864"/>
          </a:xfrm>
          <a:prstGeom prst="rect">
            <a:avLst/>
          </a:prstGeom>
          <a:solidFill>
            <a:srgbClr val="4E9B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56032" cy="1261872"/>
          </a:xfrm>
          <a:prstGeom prst="rect">
            <a:avLst/>
          </a:prstGeom>
          <a:solidFill>
            <a:srgbClr val="4E9B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84048" y="91440"/>
            <a:ext cx="9601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E3A4A"/>
                </a:solidFill>
              </a:rPr>
              <a:t>Steps 8–9: Taxonomy &amp; Visualization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" y="749808"/>
            <a:ext cx="9601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6E8494"/>
                </a:solidFill>
              </a:rPr>
              <a:t>Assign taxonomy with Silva, filter contaminants, plot relative abundance</a:t>
            </a:r>
          </a:p>
        </p:txBody>
      </p:sp>
      <p:sp>
        <p:nvSpPr>
          <p:cNvPr id="7" name="Rectangle 6"/>
          <p:cNvSpPr/>
          <p:nvPr/>
        </p:nvSpPr>
        <p:spPr>
          <a:xfrm>
            <a:off x="10789920" y="109728"/>
            <a:ext cx="1188720" cy="411480"/>
          </a:xfrm>
          <a:prstGeom prst="rect">
            <a:avLst/>
          </a:prstGeom>
          <a:solidFill>
            <a:srgbClr val="B2DF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808208" y="128016"/>
            <a:ext cx="115214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4E9B97"/>
                </a:solidFill>
              </a:rPr>
              <a:t>Steps 8-9</a:t>
            </a:r>
          </a:p>
        </p:txBody>
      </p:sp>
      <p:sp>
        <p:nvSpPr>
          <p:cNvPr id="9" name="Rectangle 8"/>
          <p:cNvSpPr/>
          <p:nvPr/>
        </p:nvSpPr>
        <p:spPr>
          <a:xfrm>
            <a:off x="384048" y="1463040"/>
            <a:ext cx="7040880" cy="2377440"/>
          </a:xfrm>
          <a:prstGeom prst="rect">
            <a:avLst/>
          </a:prstGeom>
          <a:solidFill>
            <a:srgbClr val="FFFFFF"/>
          </a:solidFill>
          <a:ln w="19050">
            <a:solidFill>
              <a:srgbClr val="D5CF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84048" y="1463040"/>
            <a:ext cx="7040880" cy="457200"/>
          </a:xfrm>
          <a:prstGeom prst="rect">
            <a:avLst/>
          </a:prstGeom>
          <a:solidFill>
            <a:srgbClr val="D5CF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30352" y="1508760"/>
            <a:ext cx="6675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7B6EAA"/>
                </a:solidFill>
              </a:rPr>
              <a:t>Step 8 — Taxonomic Assignment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2029968"/>
            <a:ext cx="1572768" cy="777240"/>
          </a:xfrm>
          <a:prstGeom prst="rect">
            <a:avLst/>
          </a:prstGeom>
          <a:solidFill>
            <a:srgbClr val="B2DFDB"/>
          </a:solidFill>
          <a:ln w="12700">
            <a:solidFill>
              <a:srgbClr val="4E9B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2103120"/>
            <a:ext cx="1426464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E3A4A"/>
                </a:solidFill>
              </a:rPr>
              <a:t>rep_seqs.qza
(ASV sequences)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139696" y="2414016"/>
            <a:ext cx="182880" cy="0"/>
          </a:xfrm>
          <a:prstGeom prst="line">
            <a:avLst/>
          </a:prstGeom>
          <a:ln w="25400">
            <a:solidFill>
              <a:srgbClr val="4E9B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2322576" y="2029968"/>
            <a:ext cx="1572768" cy="777240"/>
          </a:xfrm>
          <a:prstGeom prst="rect">
            <a:avLst/>
          </a:prstGeom>
          <a:solidFill>
            <a:srgbClr val="BBD6ED"/>
          </a:solidFill>
          <a:ln w="12700">
            <a:solidFill>
              <a:srgbClr val="5B8D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395728" y="2103120"/>
            <a:ext cx="1426464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E3A4A"/>
                </a:solidFill>
              </a:rPr>
              <a:t>Naive Bayes
classifier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3895344" y="2414016"/>
            <a:ext cx="182880" cy="0"/>
          </a:xfrm>
          <a:prstGeom prst="line">
            <a:avLst/>
          </a:prstGeom>
          <a:ln w="25400">
            <a:solidFill>
              <a:srgbClr val="5B8D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4078224" y="2029968"/>
            <a:ext cx="1572768" cy="777240"/>
          </a:xfrm>
          <a:prstGeom prst="rect">
            <a:avLst/>
          </a:prstGeom>
          <a:solidFill>
            <a:srgbClr val="D5CFEE"/>
          </a:solidFill>
          <a:ln w="12700">
            <a:solidFill>
              <a:srgbClr val="7B6E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51376" y="2103120"/>
            <a:ext cx="1426464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E3A4A"/>
                </a:solidFill>
              </a:rPr>
              <a:t>Silva 138
database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5650992" y="2414016"/>
            <a:ext cx="182880" cy="0"/>
          </a:xfrm>
          <a:prstGeom prst="line">
            <a:avLst/>
          </a:prstGeom>
          <a:ln w="25400">
            <a:solidFill>
              <a:srgbClr val="7B6E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ctangle 20"/>
          <p:cNvSpPr/>
          <p:nvPr/>
        </p:nvSpPr>
        <p:spPr>
          <a:xfrm>
            <a:off x="5833872" y="2029968"/>
            <a:ext cx="1572768" cy="777240"/>
          </a:xfrm>
          <a:prstGeom prst="rect">
            <a:avLst/>
          </a:prstGeom>
          <a:solidFill>
            <a:srgbClr val="F5C9BE"/>
          </a:solidFill>
          <a:ln w="12700">
            <a:solidFill>
              <a:srgbClr val="D974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07024" y="2103120"/>
            <a:ext cx="1426464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E3A4A"/>
                </a:solidFill>
              </a:rPr>
              <a:t>taxonomy.qza
assignment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" y="2907792"/>
            <a:ext cx="667512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3A4A"/>
                </a:solidFill>
              </a:rPr>
              <a:t>Silva 138  ·  99% OTU sequences  ·  Naive Bayes trained on V4 (515F/806R)
Output:  Domain  →  Phylum  →  Class  →  Order  →  Family  →  Genus  →  Species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607808" y="1463040"/>
            <a:ext cx="4370832" cy="2377440"/>
          </a:xfrm>
          <a:prstGeom prst="rect">
            <a:avLst/>
          </a:prstGeom>
          <a:solidFill>
            <a:srgbClr val="FFFFFF"/>
          </a:solidFill>
          <a:ln w="19050">
            <a:solidFill>
              <a:srgbClr val="F5C9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607808" y="1463040"/>
            <a:ext cx="4370832" cy="457200"/>
          </a:xfrm>
          <a:prstGeom prst="rect">
            <a:avLst/>
          </a:prstGeom>
          <a:solidFill>
            <a:srgbClr val="F5C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54112" y="1508760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D9745A"/>
                </a:solidFill>
              </a:rPr>
              <a:t>Filter before plotting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54112" y="2029968"/>
            <a:ext cx="40233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3A4A"/>
                </a:solidFill>
              </a:rPr>
              <a:t>Always remove mitochondria and
chloroplasts before the barplot.
These are eukaryotic 16S sequences
that co-amplify with bacterial
primers — they are NOT bacteria.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84048" y="3977639"/>
            <a:ext cx="11411712" cy="2240280"/>
          </a:xfrm>
          <a:prstGeom prst="rect">
            <a:avLst/>
          </a:prstGeom>
          <a:solidFill>
            <a:srgbClr val="FFFFFF"/>
          </a:solidFill>
          <a:ln w="19050">
            <a:solidFill>
              <a:srgbClr val="B2DF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84048" y="3977639"/>
            <a:ext cx="11411712" cy="457200"/>
          </a:xfrm>
          <a:prstGeom prst="rect">
            <a:avLst/>
          </a:prstGeom>
          <a:solidFill>
            <a:srgbClr val="B2DF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30352" y="4023360"/>
            <a:ext cx="7315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4E9B97"/>
                </a:solidFill>
              </a:rPr>
              <a:t>Step 9 — Relative Abundance Barplot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30352" y="4526280"/>
            <a:ext cx="1737360" cy="502920"/>
          </a:xfrm>
          <a:prstGeom prst="rect">
            <a:avLst/>
          </a:prstGeom>
          <a:solidFill>
            <a:srgbClr val="B2DF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85215" y="4572000"/>
            <a:ext cx="162763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E3A4A"/>
                </a:solidFill>
              </a:rPr>
              <a:t>Domain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2267712" y="4773168"/>
            <a:ext cx="137160" cy="0"/>
          </a:xfrm>
          <a:prstGeom prst="line">
            <a:avLst/>
          </a:prstGeom>
          <a:ln w="12700">
            <a:solidFill>
              <a:srgbClr val="6E849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ectangle 33"/>
          <p:cNvSpPr/>
          <p:nvPr/>
        </p:nvSpPr>
        <p:spPr>
          <a:xfrm>
            <a:off x="2404872" y="4526280"/>
            <a:ext cx="1737360" cy="502920"/>
          </a:xfrm>
          <a:prstGeom prst="rect">
            <a:avLst/>
          </a:prstGeom>
          <a:solidFill>
            <a:srgbClr val="BBD6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459736" y="4572000"/>
            <a:ext cx="162763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E3A4A"/>
                </a:solidFill>
              </a:rPr>
              <a:t>Phylum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4142231" y="4773168"/>
            <a:ext cx="137161" cy="0"/>
          </a:xfrm>
          <a:prstGeom prst="line">
            <a:avLst/>
          </a:prstGeom>
          <a:ln w="12700">
            <a:solidFill>
              <a:srgbClr val="6E849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ectangle 36"/>
          <p:cNvSpPr/>
          <p:nvPr/>
        </p:nvSpPr>
        <p:spPr>
          <a:xfrm>
            <a:off x="4279392" y="4526280"/>
            <a:ext cx="1737360" cy="502920"/>
          </a:xfrm>
          <a:prstGeom prst="rect">
            <a:avLst/>
          </a:prstGeom>
          <a:solidFill>
            <a:srgbClr val="D5CF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334255" y="4572000"/>
            <a:ext cx="162763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E3A4A"/>
                </a:solidFill>
              </a:rPr>
              <a:t>Class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6016752" y="4773168"/>
            <a:ext cx="137160" cy="0"/>
          </a:xfrm>
          <a:prstGeom prst="line">
            <a:avLst/>
          </a:prstGeom>
          <a:ln w="12700">
            <a:solidFill>
              <a:srgbClr val="6E849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ectangle 39"/>
          <p:cNvSpPr/>
          <p:nvPr/>
        </p:nvSpPr>
        <p:spPr>
          <a:xfrm>
            <a:off x="6153912" y="4526280"/>
            <a:ext cx="1737360" cy="502920"/>
          </a:xfrm>
          <a:prstGeom prst="rect">
            <a:avLst/>
          </a:prstGeom>
          <a:solidFill>
            <a:srgbClr val="F5C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208775" y="4572000"/>
            <a:ext cx="162763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E3A4A"/>
                </a:solidFill>
              </a:rPr>
              <a:t>Order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7891271" y="4773168"/>
            <a:ext cx="137160" cy="0"/>
          </a:xfrm>
          <a:prstGeom prst="line">
            <a:avLst/>
          </a:prstGeom>
          <a:ln w="12700">
            <a:solidFill>
              <a:srgbClr val="6E849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Rectangle 42"/>
          <p:cNvSpPr/>
          <p:nvPr/>
        </p:nvSpPr>
        <p:spPr>
          <a:xfrm>
            <a:off x="8028431" y="4526280"/>
            <a:ext cx="1737360" cy="502920"/>
          </a:xfrm>
          <a:prstGeom prst="rect">
            <a:avLst/>
          </a:prstGeom>
          <a:solidFill>
            <a:srgbClr val="C3E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083296" y="4572000"/>
            <a:ext cx="162763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E3A4A"/>
                </a:solidFill>
              </a:rPr>
              <a:t>Family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9765792" y="4773168"/>
            <a:ext cx="137159" cy="0"/>
          </a:xfrm>
          <a:prstGeom prst="line">
            <a:avLst/>
          </a:prstGeom>
          <a:ln w="12700">
            <a:solidFill>
              <a:srgbClr val="6E849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Rectangle 45"/>
          <p:cNvSpPr/>
          <p:nvPr/>
        </p:nvSpPr>
        <p:spPr>
          <a:xfrm>
            <a:off x="9902952" y="4526280"/>
            <a:ext cx="1737360" cy="502920"/>
          </a:xfrm>
          <a:prstGeom prst="rect">
            <a:avLst/>
          </a:prstGeom>
          <a:solidFill>
            <a:srgbClr val="FBF0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957816" y="4572000"/>
            <a:ext cx="162763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E3A4A"/>
                </a:solidFill>
              </a:rPr>
              <a:t>Genus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30352" y="5120640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6E8494"/>
                </a:solidFill>
              </a:rPr>
              <a:t>Interactive viewer at view.qiime2.org  ·  Switch taxonomic level  ·  Sort by metadata  ·  Export SVG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618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61872"/>
            <a:ext cx="12188952" cy="54864"/>
          </a:xfrm>
          <a:prstGeom prst="rect">
            <a:avLst/>
          </a:prstGeom>
          <a:solidFill>
            <a:srgbClr val="4E9B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56032" cy="1261872"/>
          </a:xfrm>
          <a:prstGeom prst="rect">
            <a:avLst/>
          </a:prstGeom>
          <a:solidFill>
            <a:srgbClr val="4E9B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84048" y="91440"/>
            <a:ext cx="9601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E3A4A"/>
                </a:solidFill>
              </a:rPr>
              <a:t>What You Will Have at the End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" y="749808"/>
            <a:ext cx="9601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6E8494"/>
                </a:solidFill>
              </a:rPr>
              <a:t>Every output file from a complete 16S run</a:t>
            </a:r>
          </a:p>
        </p:txBody>
      </p:sp>
      <p:sp>
        <p:nvSpPr>
          <p:cNvPr id="7" name="Rectangle 6"/>
          <p:cNvSpPr/>
          <p:nvPr/>
        </p:nvSpPr>
        <p:spPr>
          <a:xfrm>
            <a:off x="384048" y="1463040"/>
            <a:ext cx="5394960" cy="640080"/>
          </a:xfrm>
          <a:prstGeom prst="rect">
            <a:avLst/>
          </a:prstGeom>
          <a:solidFill>
            <a:srgbClr val="FFFFFF"/>
          </a:solidFill>
          <a:ln w="19050">
            <a:solidFill>
              <a:srgbClr val="B2DF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84048" y="1463040"/>
            <a:ext cx="2148840" cy="640080"/>
          </a:xfrm>
          <a:prstGeom prst="rect">
            <a:avLst/>
          </a:prstGeom>
          <a:solidFill>
            <a:srgbClr val="B2DF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554480"/>
            <a:ext cx="199339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4E9B97"/>
                </a:solidFill>
              </a:rPr>
              <a:t>sequences_summary.qzv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51760" y="1600200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3A4A"/>
                </a:solidFill>
              </a:rPr>
              <a:t>Per-sample quality plots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84048" y="2212848"/>
            <a:ext cx="5394960" cy="640080"/>
          </a:xfrm>
          <a:prstGeom prst="rect">
            <a:avLst/>
          </a:prstGeom>
          <a:solidFill>
            <a:srgbClr val="FFFFFF"/>
          </a:solidFill>
          <a:ln w="19050">
            <a:solidFill>
              <a:srgbClr val="B2DF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84048" y="2212848"/>
            <a:ext cx="2148840" cy="640080"/>
          </a:xfrm>
          <a:prstGeom prst="rect">
            <a:avLst/>
          </a:prstGeom>
          <a:solidFill>
            <a:srgbClr val="B2DF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2304288"/>
            <a:ext cx="199339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4E9B97"/>
                </a:solidFill>
              </a:rPr>
              <a:t>sequences_trimmed_summary.qzv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51760" y="2350008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3A4A"/>
                </a:solidFill>
              </a:rPr>
              <a:t>Quality after primer removal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84048" y="2962656"/>
            <a:ext cx="5394960" cy="640080"/>
          </a:xfrm>
          <a:prstGeom prst="rect">
            <a:avLst/>
          </a:prstGeom>
          <a:solidFill>
            <a:srgbClr val="FFFFFF"/>
          </a:solidFill>
          <a:ln w="19050">
            <a:solidFill>
              <a:srgbClr val="BBD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84048" y="2962656"/>
            <a:ext cx="2148840" cy="640080"/>
          </a:xfrm>
          <a:prstGeom prst="rect">
            <a:avLst/>
          </a:prstGeom>
          <a:solidFill>
            <a:srgbClr val="BBD6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3054096"/>
            <a:ext cx="199339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5B8DB8"/>
                </a:solidFill>
              </a:rPr>
              <a:t>denoising_stats.qzv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51760" y="3099816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3A4A"/>
                </a:solidFill>
              </a:rPr>
              <a:t>Reads passing each DADA2 filter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84048" y="3712464"/>
            <a:ext cx="5394960" cy="640080"/>
          </a:xfrm>
          <a:prstGeom prst="rect">
            <a:avLst/>
          </a:prstGeom>
          <a:solidFill>
            <a:srgbClr val="FFFFFF"/>
          </a:solidFill>
          <a:ln w="19050">
            <a:solidFill>
              <a:srgbClr val="BBD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84048" y="3712464"/>
            <a:ext cx="2148840" cy="640080"/>
          </a:xfrm>
          <a:prstGeom prst="rect">
            <a:avLst/>
          </a:prstGeom>
          <a:solidFill>
            <a:srgbClr val="BBD6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3803904"/>
            <a:ext cx="199339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5B8DB8"/>
                </a:solidFill>
              </a:rPr>
              <a:t>asv_table_summary.qzv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651760" y="3849624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3A4A"/>
                </a:solidFill>
              </a:rPr>
              <a:t>ASV counts per sample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84048" y="4462272"/>
            <a:ext cx="5394960" cy="640080"/>
          </a:xfrm>
          <a:prstGeom prst="rect">
            <a:avLst/>
          </a:prstGeom>
          <a:solidFill>
            <a:srgbClr val="FFFFFF"/>
          </a:solidFill>
          <a:ln w="19050">
            <a:solidFill>
              <a:srgbClr val="BBD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84048" y="4462272"/>
            <a:ext cx="2148840" cy="640080"/>
          </a:xfrm>
          <a:prstGeom prst="rect">
            <a:avLst/>
          </a:prstGeom>
          <a:solidFill>
            <a:srgbClr val="BBD6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4553712"/>
            <a:ext cx="199339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5B8DB8"/>
                </a:solidFill>
              </a:rPr>
              <a:t>rep_seqs.qzv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651760" y="4599432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3A4A"/>
                </a:solidFill>
              </a:rPr>
              <a:t>Representative sequences + BLAST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84048" y="5212079"/>
            <a:ext cx="5394960" cy="640080"/>
          </a:xfrm>
          <a:prstGeom prst="rect">
            <a:avLst/>
          </a:prstGeom>
          <a:solidFill>
            <a:srgbClr val="FFFFFF"/>
          </a:solidFill>
          <a:ln w="19050">
            <a:solidFill>
              <a:srgbClr val="F5C9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84048" y="5212079"/>
            <a:ext cx="2148840" cy="640080"/>
          </a:xfrm>
          <a:prstGeom prst="rect">
            <a:avLst/>
          </a:prstGeom>
          <a:solidFill>
            <a:srgbClr val="F5C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7200" y="5303519"/>
            <a:ext cx="199339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D9745A"/>
                </a:solidFill>
              </a:rPr>
              <a:t>alpha_rarefaction.qzv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651760" y="5349240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3A4A"/>
                </a:solidFill>
              </a:rPr>
              <a:t>Rarefaction curves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099048" y="1463040"/>
            <a:ext cx="5394960" cy="640080"/>
          </a:xfrm>
          <a:prstGeom prst="rect">
            <a:avLst/>
          </a:prstGeom>
          <a:solidFill>
            <a:srgbClr val="FFFFFF"/>
          </a:solidFill>
          <a:ln w="19050">
            <a:solidFill>
              <a:srgbClr val="F5C9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099048" y="1463040"/>
            <a:ext cx="2148840" cy="640080"/>
          </a:xfrm>
          <a:prstGeom prst="rect">
            <a:avLst/>
          </a:prstGeom>
          <a:solidFill>
            <a:srgbClr val="F5C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172200" y="1554480"/>
            <a:ext cx="199339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D9745A"/>
                </a:solidFill>
              </a:rPr>
              <a:t>diversity/shannon_significance.qzv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66760" y="1600200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3A4A"/>
                </a:solidFill>
              </a:rPr>
              <a:t>Alpha diversity significance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099048" y="2212848"/>
            <a:ext cx="5394960" cy="640080"/>
          </a:xfrm>
          <a:prstGeom prst="rect">
            <a:avLst/>
          </a:prstGeom>
          <a:solidFill>
            <a:srgbClr val="FFFFFF"/>
          </a:solidFill>
          <a:ln w="19050">
            <a:solidFill>
              <a:srgbClr val="F5C9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099048" y="2212848"/>
            <a:ext cx="2148840" cy="640080"/>
          </a:xfrm>
          <a:prstGeom prst="rect">
            <a:avLst/>
          </a:prstGeom>
          <a:solidFill>
            <a:srgbClr val="F5C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172200" y="2304288"/>
            <a:ext cx="199339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D9745A"/>
                </a:solidFill>
              </a:rPr>
              <a:t>diversity/*_emperor.qzv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66760" y="2350008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3A4A"/>
                </a:solidFill>
              </a:rPr>
              <a:t>Interactive PCoA (4 metrics)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099048" y="2962656"/>
            <a:ext cx="5394960" cy="640080"/>
          </a:xfrm>
          <a:prstGeom prst="rect">
            <a:avLst/>
          </a:prstGeom>
          <a:solidFill>
            <a:srgbClr val="FFFFFF"/>
          </a:solidFill>
          <a:ln w="19050">
            <a:solidFill>
              <a:srgbClr val="D5CF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099048" y="2962656"/>
            <a:ext cx="2148840" cy="640080"/>
          </a:xfrm>
          <a:prstGeom prst="rect">
            <a:avLst/>
          </a:prstGeom>
          <a:solidFill>
            <a:srgbClr val="D5CF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172200" y="3054096"/>
            <a:ext cx="199339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7B6EAA"/>
                </a:solidFill>
              </a:rPr>
              <a:t>diversity/bray_curtis_significance.qzv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366760" y="3099816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3A4A"/>
                </a:solidFill>
              </a:rPr>
              <a:t>PERMANOVA test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099048" y="3712464"/>
            <a:ext cx="5394960" cy="640080"/>
          </a:xfrm>
          <a:prstGeom prst="rect">
            <a:avLst/>
          </a:prstGeom>
          <a:solidFill>
            <a:srgbClr val="FFFFFF"/>
          </a:solidFill>
          <a:ln w="19050">
            <a:solidFill>
              <a:srgbClr val="D5CF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099048" y="3712464"/>
            <a:ext cx="2148840" cy="640080"/>
          </a:xfrm>
          <a:prstGeom prst="rect">
            <a:avLst/>
          </a:prstGeom>
          <a:solidFill>
            <a:srgbClr val="D5CF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172200" y="3803904"/>
            <a:ext cx="199339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7B6EAA"/>
                </a:solidFill>
              </a:rPr>
              <a:t>taxonomy.qzv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366760" y="3849624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3A4A"/>
                </a:solidFill>
              </a:rPr>
              <a:t>Taxonomic assignments table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099048" y="4462272"/>
            <a:ext cx="5394960" cy="640080"/>
          </a:xfrm>
          <a:prstGeom prst="rect">
            <a:avLst/>
          </a:prstGeom>
          <a:solidFill>
            <a:srgbClr val="FFFFFF"/>
          </a:solidFill>
          <a:ln w="19050">
            <a:solidFill>
              <a:srgbClr val="C3E6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6099048" y="4462272"/>
            <a:ext cx="2148840" cy="640080"/>
          </a:xfrm>
          <a:prstGeom prst="rect">
            <a:avLst/>
          </a:prstGeom>
          <a:solidFill>
            <a:srgbClr val="C3E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172200" y="4553712"/>
            <a:ext cx="199339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5EA66A"/>
                </a:solidFill>
              </a:rPr>
              <a:t>taxa_barplot.qzv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366760" y="4599432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3A4A"/>
                </a:solidFill>
              </a:rPr>
              <a:t>Stacked barplots by level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84048" y="6309360"/>
            <a:ext cx="11411712" cy="438912"/>
          </a:xfrm>
          <a:prstGeom prst="rect">
            <a:avLst/>
          </a:prstGeom>
          <a:solidFill>
            <a:srgbClr val="B2DF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66928" y="6355080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4E9B97"/>
                </a:solidFill>
              </a:rPr>
              <a:t>.qzv  →  visualization (view.qiime2.org)          .qza  →  data artifact (input for downstream steps)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