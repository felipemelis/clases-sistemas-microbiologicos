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08C82"/>
                </a:solidFill>
              </a:rPr>
              <a:t>16S rRNA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DADA2 + QIIME2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8D8D0"/>
                </a:solidFill>
              </a:rPr>
              <a:t>Taller Práctico — Módulo 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7315200" cy="381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8D0"/>
                </a:solidFill>
              </a:rP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32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Procesar lecturas crudas de 16S hasta obtener
asignación taxonómica y métricas de diversidad.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09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7A4"/>
                </a:solidFill>
              </a:rPr>
              <a:t>Sistemas Microbiológicos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9 pasos desde lecturas crudas hasta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1170432" cy="13716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FASTQ → QIIME2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6" y="2194560"/>
            <a:ext cx="13716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01368" y="1508760"/>
            <a:ext cx="1170432" cy="13716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Phred scores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80944" y="2194560"/>
            <a:ext cx="137159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099815" y="1508760"/>
            <a:ext cx="1170432" cy="13716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2968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Cutadapt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Remove primers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79392" y="2194560"/>
            <a:ext cx="137159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398264" y="1508760"/>
            <a:ext cx="1170432" cy="137160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DADA2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Denoising + ASVs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577840" y="2194560"/>
            <a:ext cx="137159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696712" y="1508760"/>
            <a:ext cx="1170432" cy="13716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9864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9864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ASV 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Feature table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76288" y="2194560"/>
            <a:ext cx="137159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995159" y="1508760"/>
            <a:ext cx="1170432" cy="13716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68312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Phylogeny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FastTree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74736" y="2194560"/>
            <a:ext cx="13716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293608" y="1508760"/>
            <a:ext cx="1170432" cy="13716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Diversity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α + β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473184" y="2194560"/>
            <a:ext cx="13716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592056" y="1508760"/>
            <a:ext cx="1170432" cy="13716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65208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Taxonomy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Silva 138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771632" y="2194560"/>
            <a:ext cx="13716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0890504" y="1508760"/>
            <a:ext cx="1170432" cy="13716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63656" y="1554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E3B"/>
                </a:solidFill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63656" y="1938528"/>
            <a:ext cx="1060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Barplots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63656" y="2221991"/>
            <a:ext cx="1060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D8D0"/>
                </a:solidFill>
              </a:rPr>
              <a:t>Visualization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01368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99815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98264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
.qzv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96712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.qzv
.qzv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92056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90504" y="29260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7A4"/>
                </a:solidFill>
              </a:rPr>
              <a:t>.qzv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3017520"/>
            <a:ext cx="3767328" cy="256032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" y="3026664"/>
            <a:ext cx="3895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Pre-processing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98264" y="3017520"/>
            <a:ext cx="2468879" cy="256032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6552" y="3026664"/>
            <a:ext cx="2596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Core: DADA2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95159" y="3017520"/>
            <a:ext cx="5065776" cy="25603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13448" y="3026664"/>
            <a:ext cx="51937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Analysis &amp; Visualization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3840480"/>
            <a:ext cx="11155680" cy="8229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C82"/>
                </a:solidFill>
              </a:rPr>
              <a:t>Our dataset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1879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D8D0"/>
                </a:solidFill>
              </a:rPr>
              <a:t>4 samples  ·  V4 region (515F/806R)  ·  Paired-end 250bp  ·  ~10,000 reads/sample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¿Por qué el gen 16S rRNA?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El marcador universal para identificar bacterias sin cultivo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64592"/>
            <a:ext cx="146304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182880"/>
            <a:ext cx="142646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0972800" cy="8229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8C82"/>
                </a:solidFill>
              </a:rPr>
              <a:t>Gen 16S rRNA  (~1550 pb)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822960" cy="50292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572768"/>
            <a:ext cx="548640" cy="50292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276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572768"/>
            <a:ext cx="457200" cy="50292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1627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1572768"/>
            <a:ext cx="548640" cy="50292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6276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572768"/>
            <a:ext cx="457200" cy="50292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1627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72768"/>
            <a:ext cx="2286000" cy="50292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16276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V3-V4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572768"/>
            <a:ext cx="457200" cy="50292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1627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572768"/>
            <a:ext cx="640080" cy="50292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6276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V5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572768"/>
            <a:ext cx="457200" cy="50292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627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1572768"/>
            <a:ext cx="2286000" cy="5029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7" y="1627632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E3B"/>
                </a:solidFill>
              </a:rPr>
              <a:t>V4  ← we use this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514600"/>
            <a:ext cx="3566160" cy="155448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5786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🔬  Universal marker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29992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Present in ALL bacteria and archaea.
Evolutionarily conserved → reliable PCR.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514600"/>
            <a:ext cx="3566160" cy="155448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25786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📊  Variable regions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992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V3-V4 diverge enough to distinguish
species and genera.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514600"/>
            <a:ext cx="3566160" cy="155448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25786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🔗  Huge databases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29992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Silva, Greengenes, GTDB — thousands
of reference sequences.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51960"/>
            <a:ext cx="10972800" cy="15087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8D0"/>
                </a:solidFill>
              </a:rPr>
              <a:t>What we amplify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09160"/>
            <a:ext cx="2286000" cy="5486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754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DNA extraction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71800" y="4983480"/>
            <a:ext cx="4572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429000" y="4709160"/>
            <a:ext cx="2286000" cy="5486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0" y="4754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PCR (515F/806R)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15000" y="4983480"/>
            <a:ext cx="4572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172200" y="4709160"/>
            <a:ext cx="2286000" cy="5486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4754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Sequencing (Illumina)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458200" y="4983480"/>
            <a:ext cx="4572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8915400" y="4709160"/>
            <a:ext cx="2286000" cy="5486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0" y="4754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QIIME2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Steps 1–2: Import &amp; Quality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FASTQ → QIIME2 artifact → Phred quality visualization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64592"/>
            <a:ext cx="146304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182880"/>
            <a:ext cx="142646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Steps 1-2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029200" cy="429768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Import into QIIME2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4663440" cy="127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965960"/>
            <a:ext cx="2011680" cy="6400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manifest.tsv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Maps sample IDs to FASTQ file paths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91640" y="2606039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834639"/>
            <a:ext cx="2011680" cy="6400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07791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qiime tools import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9443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Wraps FASTQs into .qza artifact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91640" y="3474720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3703320"/>
            <a:ext cx="2011680" cy="6400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7647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demux summarize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813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Generates per-sample quality .qzv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4343400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4572000"/>
            <a:ext cx="2011680" cy="6400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64515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view.qiime2.org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6817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Visualize quality interactively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417320"/>
            <a:ext cx="5943600" cy="429768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14813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Reading the Quality Plot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1874519"/>
            <a:ext cx="5577840" cy="127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1965960"/>
            <a:ext cx="5486400" cy="2011680"/>
          </a:xfrm>
          <a:prstGeom prst="rect">
            <a:avLst/>
          </a:prstGeom>
          <a:solidFill>
            <a:srgbClr val="0A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59" y="2103120"/>
            <a:ext cx="5029200" cy="54864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16712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CD65C"/>
                </a:solidFill>
              </a:rPr>
              <a:t>Q ≥ 30  ·  Excellent  (99.9% accuracy)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59" y="2715768"/>
            <a:ext cx="5029200" cy="457200"/>
          </a:xfrm>
          <a:prstGeom prst="rect">
            <a:avLst/>
          </a:prstGeom>
          <a:solidFill>
            <a:srgbClr val="4A4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7706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518"/>
                </a:solidFill>
              </a:rPr>
              <a:t>Q 20-29  ·  Acceptable  (99% accuracy)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3236976"/>
            <a:ext cx="5029200" cy="457200"/>
          </a:xfrm>
          <a:prstGeom prst="rect">
            <a:avLst/>
          </a:prstGeom>
          <a:solidFill>
            <a:srgbClr val="5C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291839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5C5C"/>
                </a:solidFill>
              </a:rPr>
              <a:t>Q &lt; 20  ·  Truncate here  (&lt; 99% accuracy)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7A4"/>
                </a:solidFill>
              </a:rPr>
              <a:t>X axis → Position in read (bp)
Y axis → Phred quality (Q)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1605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⚠  Use this plot to set --p-trunc-len in DADA2
R1 and R2 must still overlap by ≥ 20 bp after truncation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Steps 3–4: Remove Primers &amp; Denoising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Cutadapt strips primers — DADA2 corrects errors and calls ASVs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64592"/>
            <a:ext cx="146304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182880"/>
            <a:ext cx="142646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Steps 3-4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303520" cy="21945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Step 3 · Cutadapt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4937760" cy="127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920240"/>
            <a:ext cx="1554480" cy="25603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938528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-g  515F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1947672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Forward primer on R1 (5' end)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240280"/>
            <a:ext cx="1554480" cy="25603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58568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-G  806R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2267712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Reverse primer on R2 (5' end)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560320"/>
            <a:ext cx="1554480" cy="25603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-a  adapter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258775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RC of 806R on R1 (3' end)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554480" cy="25603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2898648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-A  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290779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RC of 515F on R2 (3' end)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00400"/>
            <a:ext cx="1554480" cy="25603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218688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--times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4288" y="3227832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Run twice → catch primer dimers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417320"/>
            <a:ext cx="5577840" cy="21945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1481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2E"/>
                </a:solidFill>
              </a:rPr>
              <a:t>Step 4 · DADA2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874519"/>
            <a:ext cx="5212080" cy="1270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1938528"/>
            <a:ext cx="320040" cy="32004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19659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9568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Filter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1965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Remove low quality reads (maxEE)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340864"/>
            <a:ext cx="320040" cy="32004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36829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3591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Learn errors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3682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Build error model per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743200"/>
            <a:ext cx="320040" cy="32004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27706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Denoise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770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Correct sequencing errors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145536"/>
            <a:ext cx="320040" cy="32004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317296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163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Chimera removal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31729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Remove chimeric sequences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06440" y="2514600"/>
            <a:ext cx="27432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760720" y="23317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A97A4"/>
                </a:solidFill>
              </a:rPr>
              <a:t>trimmed
reads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49039"/>
            <a:ext cx="11155680" cy="256032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38130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ASVs  vs  OTUs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4251960"/>
            <a:ext cx="32004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42702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4251960"/>
            <a:ext cx="3657600" cy="3200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42702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OTUs (traditional)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4251960"/>
            <a:ext cx="3657600" cy="3200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92440" y="427024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ASVs (DADA2)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" y="4590288"/>
            <a:ext cx="32004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626864"/>
            <a:ext cx="31089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7A4"/>
                </a:solidFill>
              </a:rPr>
              <a:t>Similarity threshold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0" y="459028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462686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97% clustering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59028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92440" y="462686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Exact sequence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" y="4910327"/>
            <a:ext cx="32004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4946903"/>
            <a:ext cx="31089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7A4"/>
                </a:solidFill>
              </a:rPr>
              <a:t>Resolution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4910327"/>
            <a:ext cx="36576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60520" y="4946903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Genus / species level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4910327"/>
            <a:ext cx="36576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92440" y="4946903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Sub-species, strains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" y="5230368"/>
            <a:ext cx="32004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1520" y="5266944"/>
            <a:ext cx="31089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7A4"/>
                </a:solidFill>
              </a:rPr>
              <a:t>Reproducibility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523036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60520" y="526694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Depends on threshold &amp;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46720" y="523036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92440" y="526694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High — same across studies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5800" y="5550407"/>
            <a:ext cx="32004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1520" y="5586983"/>
            <a:ext cx="31089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7A4"/>
                </a:solidFill>
              </a:rPr>
              <a:t>Chimeras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0" y="5550407"/>
            <a:ext cx="36576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60520" y="5586983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Not always removed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46720" y="5550407"/>
            <a:ext cx="3657600" cy="3200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5586983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Explicitly removed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5800" y="5870448"/>
            <a:ext cx="32004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5907024"/>
            <a:ext cx="31089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7A4"/>
                </a:solidFill>
              </a:rPr>
              <a:t>Recommendation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0" y="587044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60520" y="590702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Legacy pipelines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5870448"/>
            <a:ext cx="3657600" cy="320040"/>
          </a:xfrm>
          <a:prstGeom prst="rect">
            <a:avLst/>
          </a:prstGeom>
          <a:solidFill>
            <a:srgbClr val="12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5907024"/>
            <a:ext cx="3566160" cy="246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C518"/>
                </a:solidFill>
              </a:rPr>
              <a:t>✓  Current standard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Steps 6–7: Phylogeny &amp; Diversity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Build a tree — then measure richness within and between 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64592"/>
            <a:ext cx="146304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182880"/>
            <a:ext cx="142646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Steps 6-7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3474720" cy="164592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C82"/>
                </a:solidFill>
              </a:rPr>
              <a:t>Step 6 · Phylogeny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47088"/>
            <a:ext cx="3200400" cy="127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01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→  MAFFT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67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→  Mask uninformative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33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→  FastTree → rooted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7A4"/>
                </a:solidFill>
              </a:rPr>
              <a:t>Required for UniFrac metrics
(phylogenetic beta diversity)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417320"/>
            <a:ext cx="3749039" cy="24231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C82"/>
                </a:solidFill>
              </a:rPr>
              <a:t>Alpha diversity  (within sample)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47088"/>
            <a:ext cx="3383280" cy="127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01952"/>
            <a:ext cx="1463040" cy="34747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20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Shannon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93852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Richness + evenness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359152"/>
            <a:ext cx="1463040" cy="34747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3774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Observed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39572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# unique ASVs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816352"/>
            <a:ext cx="1463040" cy="34747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Faith's PD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285292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Phylogenetic diversity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273552"/>
            <a:ext cx="1463040" cy="34747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2918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Evenness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448" y="331012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How uniform the community 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1417320"/>
            <a:ext cx="3840480" cy="242316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4813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6F8B"/>
                </a:solidFill>
              </a:rPr>
              <a:t>Beta diversity  (between samples)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47088"/>
            <a:ext cx="3474720" cy="127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20" y="1901952"/>
            <a:ext cx="1828800" cy="34747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192024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Bray-Curtis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8128" y="19385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Abundance-based, no phylogeny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359152"/>
            <a:ext cx="1828800" cy="34747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237744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Unweighted UniFrac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8128" y="23957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Presence/absence + phylogeny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16352"/>
            <a:ext cx="1828800" cy="34747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283464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Weighted UniFrac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8128" y="28529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Abundance + phylogeny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3273552"/>
            <a:ext cx="1828800" cy="34747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29184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Jaccard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8128" y="33101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8D0"/>
                </a:solidFill>
              </a:rPr>
              <a:t>Presence/absence only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77639"/>
            <a:ext cx="5303520" cy="233172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0416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</a:rPr>
              <a:t>Rarefaction — why it matters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07408"/>
            <a:ext cx="4937760" cy="1270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462272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Different samples have different sequencing depths.
Rarefaction subsamples all to the same depth
so diversity comparisons are fair.
→  sampling_depth = 80% of minimum sample count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3977639"/>
            <a:ext cx="5577840" cy="233172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40416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6F8B"/>
                </a:solidFill>
              </a:rPr>
              <a:t>PCoA — reading the plot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407408"/>
            <a:ext cx="5212080" cy="127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9360" y="4480560"/>
            <a:ext cx="2286000" cy="1600200"/>
          </a:xfrm>
          <a:prstGeom prst="rect">
            <a:avLst/>
          </a:prstGeom>
          <a:solidFill>
            <a:srgbClr val="0A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01968" y="4773168"/>
            <a:ext cx="146304" cy="146304"/>
          </a:xfrm>
          <a:prstGeom prst="ellipse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784848" y="5047488"/>
            <a:ext cx="146304" cy="146304"/>
          </a:xfrm>
          <a:prstGeom prst="ellipse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93408" y="4864608"/>
            <a:ext cx="146304" cy="146304"/>
          </a:xfrm>
          <a:prstGeom prst="ellipse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607808" y="5230368"/>
            <a:ext cx="146304" cy="146304"/>
          </a:xfrm>
          <a:prstGeom prst="ellipse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90688" y="5504688"/>
            <a:ext cx="146304" cy="146304"/>
          </a:xfrm>
          <a:prstGeom prst="ellipse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699248" y="5047488"/>
            <a:ext cx="146304" cy="146304"/>
          </a:xfrm>
          <a:prstGeom prst="ellipse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32520" y="4480560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Samples cluster by group.
Close = similar microbiome.
Far = different microbiome.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257800"/>
            <a:ext cx="182880" cy="1828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0" y="5266944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8C82"/>
                </a:solidFill>
              </a:rPr>
              <a:t>Control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32520" y="5486400"/>
            <a:ext cx="182880" cy="18288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0" y="5495544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6A2E"/>
                </a:solidFill>
              </a:rPr>
              <a:t>Treated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Steps 8–9: Taxonomy &amp;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Assign taxonomy with Silva + visualize relative abundance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64592"/>
            <a:ext cx="146304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182880"/>
            <a:ext cx="142646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Steps 8-9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6858000" cy="274320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</a:rPr>
              <a:t>Step 8 · Taxonomic assignment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6492240" cy="127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965960"/>
            <a:ext cx="1463040" cy="77724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ASV sequences
(rep_seqs.qza)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48840" y="2350008"/>
            <a:ext cx="22860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377440" y="1965960"/>
            <a:ext cx="1463040" cy="7772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160" y="202996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Naive Bayes
classifier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0" y="2350008"/>
            <a:ext cx="22860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069080" y="1965960"/>
            <a:ext cx="1463040" cy="777240"/>
          </a:xfrm>
          <a:prstGeom prst="rect">
            <a:avLst/>
          </a:prstGeom>
          <a:solidFill>
            <a:srgbClr val="4A2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202996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Silva 138
database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32120" y="2350008"/>
            <a:ext cx="228600" cy="0"/>
          </a:xfrm>
          <a:prstGeom prst="line">
            <a:avLst/>
          </a:prstGeom>
          <a:ln w="25400">
            <a:solidFill>
              <a:srgbClr val="A8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760720" y="1965960"/>
            <a:ext cx="1463040" cy="77724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02996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taxonomy.qza
assignments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834640"/>
            <a:ext cx="6400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D8D0"/>
                </a:solidFill>
              </a:rPr>
              <a:t>Silva 138 — 99% OTU sequences
Naive Bayes trained on V4 region (515F/806R)
→ Outputs: Domain, Phylum, Class, Order, Family, Genus, Species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1417320"/>
            <a:ext cx="4389120" cy="274320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14813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2E"/>
                </a:solidFill>
              </a:rPr>
              <a:t>Filter before plotting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1874519"/>
            <a:ext cx="4023360" cy="1270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1920240"/>
            <a:ext cx="4023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Remove mitochondria and chloroplasts
before barplots.
These are eukaryotic 16S sequences
that co-amplify with bacterial primers
and are NOT bacteria.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79" y="3657600"/>
            <a:ext cx="4023360" cy="347472"/>
          </a:xfrm>
          <a:prstGeom prst="rect">
            <a:avLst/>
          </a:prstGeom>
          <a:solidFill>
            <a:srgbClr val="5C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7033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5C5C"/>
                </a:solidFill>
              </a:rPr>
              <a:t>⚠  Always filter before taxa barplot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97680"/>
            <a:ext cx="11155680" cy="192024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3616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2"/>
                </a:solidFill>
              </a:rPr>
              <a:t>Step 9 · Barplot — Relative Abundance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800600"/>
            <a:ext cx="1600200" cy="4572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Phylum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4800600"/>
            <a:ext cx="1600200" cy="457200"/>
          </a:xfrm>
          <a:prstGeom prst="rect">
            <a:avLst/>
          </a:prstGeom>
          <a:solidFill>
            <a:srgbClr val="00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4800600"/>
            <a:ext cx="1600200" cy="4572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800600"/>
            <a:ext cx="1600200" cy="457200"/>
          </a:xfrm>
          <a:prstGeom prst="rect">
            <a:avLst/>
          </a:prstGeom>
          <a:solidFill>
            <a:srgbClr val="4A2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Family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1000" y="4800600"/>
            <a:ext cx="1600200" cy="457200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4800600"/>
            <a:ext cx="1600200" cy="457200"/>
          </a:xfrm>
          <a:prstGeom prst="rect">
            <a:avLst/>
          </a:prstGeom>
          <a:solidFill>
            <a:srgbClr val="E8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48463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Species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7667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7A4"/>
                </a:solidFill>
              </a:rPr>
              <a:t>Interactive viewer at view.qiime2.org — switch levels, sort samples, export SVG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You Will Have at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D8D0"/>
                </a:solidFill>
              </a:rPr>
              <a:t>All outputs from a complete 16S analysis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4846320"/>
          </a:xfrm>
          <a:prstGeom prst="rect">
            <a:avLst/>
          </a:prstGeom>
          <a:solidFill>
            <a:srgbClr val="0D1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2103120" cy="53035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sequences_summary.qzv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600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Quality plots per sample (view.qiime2.org)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21991"/>
            <a:ext cx="2103120" cy="53035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76856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sequences_trimmed_summary.qzv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3134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Quality after primer removal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35224"/>
            <a:ext cx="2103120" cy="530352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990088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denoising_stats.qzv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0266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Reads passing each DADA2 filter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48456"/>
            <a:ext cx="2103120" cy="530352"/>
          </a:xfrm>
          <a:prstGeom prst="rect">
            <a:avLst/>
          </a:prstGeom>
          <a:solidFill>
            <a:srgbClr val="4A2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03320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asv_table_summary.qzv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73989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ASV counts per sample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61688"/>
            <a:ext cx="2103120" cy="53035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16551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rep_seqs.qzv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45312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Representative sequences with BLAST links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074920"/>
            <a:ext cx="2103120" cy="53035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12978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alpha_rarefaction.qzv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5166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Rarefaction curves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508760"/>
            <a:ext cx="2103120" cy="530352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56362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diversity/shannon_significance.qzv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1600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Alpha diversity significance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2221991"/>
            <a:ext cx="2103120" cy="53035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276856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diversity/*_emperor.qzv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3134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Interactive PCoA plots (4 metrics)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935224"/>
            <a:ext cx="2103120" cy="53035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2990088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diversity/bray_curtis_significance.qzv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0266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PERMANOVA 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648456"/>
            <a:ext cx="2103120" cy="530352"/>
          </a:xfrm>
          <a:prstGeom prst="rect">
            <a:avLst/>
          </a:prstGeom>
          <a:solidFill>
            <a:srgbClr val="E86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3703320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taxonomy.qzv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3989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Taxonomic assignments table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4361688"/>
            <a:ext cx="2103120" cy="530352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4416551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taxa_barplot.qzv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445312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D8D0"/>
                </a:solidFill>
              </a:rPr>
              <a:t>Stacked barplots by taxonomic level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6309360"/>
            <a:ext cx="11155680" cy="411480"/>
          </a:xfrm>
          <a:prstGeom prst="rect">
            <a:avLst/>
          </a:prstGeom>
          <a:solidFill>
            <a:srgbClr val="00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3679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All .qzv files are visualizations → open at view.qiime2.org     All .qza files are data artifacts → input for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