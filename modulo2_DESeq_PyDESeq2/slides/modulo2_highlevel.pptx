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57800"/>
            <a:ext cx="12188952" cy="1600200"/>
          </a:xfrm>
          <a:prstGeom prst="rect">
            <a:avLst/>
          </a:prstGeom>
          <a:solidFill>
            <a:srgbClr val="12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Which Genes Changed?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B8DEDB"/>
                </a:solidFill>
              </a:rPr>
              <a:t>Identifying Differentially Expressed Genes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6400800" cy="36576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DF1"/>
                </a:solidFill>
              </a:rPr>
              <a:t>A walk through RNA-seq differential expression analysis with DESeq2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DEDB"/>
                </a:solidFill>
              </a:rPr>
              <a:t>What we will 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4243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·  How raw counts reflect gene activity — and why we cannot compare them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2531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·  How we normalize data and control for technical variation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0819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·  How we model expression and test each gene statistically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9107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·  How to read a volcano plot, a heatmap, and a results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E3A4A"/>
                </a:solidFill>
              </a:rPr>
              <a:t>What We Will Accomplish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8494"/>
                </a:solidFill>
              </a:rPr>
              <a:t>By the end of this session you will be able to run and interpret a complete differential expression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44752"/>
            <a:ext cx="37033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3703320" cy="50292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44752"/>
            <a:ext cx="256032" cy="224028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5270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908A"/>
                </a:solidFill>
              </a:rPr>
              <a:t>Run a complete DESeq2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011680"/>
            <a:ext cx="35204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Starting from a raw counts matrix, execute every step — normalization, model fitting, statistical testing — and produce a ranked list of DE genes.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444752"/>
            <a:ext cx="37033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44752"/>
            <a:ext cx="3703320" cy="50292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44752"/>
            <a:ext cx="256032" cy="2240280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5270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FA5"/>
                </a:solidFill>
              </a:rPr>
              <a:t>Understand every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011680"/>
            <a:ext cx="35204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Know why each step exists, what can go wrong, and how to read the outputs. Size factors, dispersions, Wald tests — none of these will be a black box.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444752"/>
            <a:ext cx="37033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444752"/>
            <a:ext cx="3703320" cy="502920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444752"/>
            <a:ext cx="256032" cy="2240280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B6B52"/>
                </a:solidFill>
              </a:rPr>
              <a:t>Interpret fold change and p-values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011680"/>
            <a:ext cx="35204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Explain log₂ fold change, raw p-value, and FDR-adjusted p-value. Understand the multiple testing problem and why Benjamini-Hochberg matters.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840480"/>
            <a:ext cx="37033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3703320" cy="50292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3840480"/>
            <a:ext cx="256032" cy="2240280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92277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6EAA"/>
                </a:solidFill>
              </a:rPr>
              <a:t>Read volcano plots and heatmaps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407408"/>
            <a:ext cx="35204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Identify up- and down-regulated genes visually, understand what makes a gene pass the significance threshold, and present findings clearly.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3840480"/>
            <a:ext cx="37033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4256" y="3840480"/>
            <a:ext cx="3703320" cy="50292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4256" y="3840480"/>
            <a:ext cx="256032" cy="2240280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92277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9A60"/>
                </a:solidFill>
              </a:rPr>
              <a:t>Apply this to your own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4407408"/>
            <a:ext cx="35204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The pipeline you run today is the same one you will use on the dataset assigned for evaluation. After today, adapting it is straightforward.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E3A4A"/>
                </a:solidFill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8494"/>
                </a:solidFill>
              </a:rPr>
              <a:t>From a sequencing experiment to a list of changed genes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63040"/>
            <a:ext cx="2011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63040"/>
            <a:ext cx="2011680" cy="59436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908A"/>
                </a:solidFill>
              </a:rPr>
              <a:t>Counts
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One number per gene
per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5146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849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6896" y="1463040"/>
            <a:ext cx="2011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6896" y="1463040"/>
            <a:ext cx="2011680" cy="59436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7FA5"/>
                </a:solidFill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Remove library-size
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5146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8494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9744" y="1463040"/>
            <a:ext cx="2011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9744" y="1463040"/>
            <a:ext cx="2011680" cy="594360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B6B52"/>
                </a:solidFill>
              </a:rPr>
              <a:t>Explore
(PCA)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Check sample quality
and grouping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25146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849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2592" y="1463040"/>
            <a:ext cx="2011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22592" y="1463040"/>
            <a:ext cx="2011680" cy="59436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6EAA"/>
                </a:solidFill>
              </a:rPr>
              <a:t>Fit model
(DESeq2)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Negative binomial
GLM per gene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5146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8494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463040"/>
            <a:ext cx="2011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463040"/>
            <a:ext cx="2011680" cy="59436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7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9A60"/>
                </a:solidFill>
              </a:rPr>
              <a:t>Test &amp;
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7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log₂FC, p-value
and FDR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041648"/>
            <a:ext cx="11411712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041648"/>
            <a:ext cx="256032" cy="224028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1148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08A"/>
                </a:solidFill>
              </a:rPr>
              <a:t>Why raw counts?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0288"/>
            <a:ext cx="3383280" cy="150876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4645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908A"/>
                </a:solidFill>
              </a:rPr>
              <a:t>Integer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04748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Counts are whole numbers — reads that mapped to a gene. Not percentages, not normalized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8" y="4590288"/>
            <a:ext cx="3383280" cy="150876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4645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FA5"/>
                </a:solidFill>
              </a:rPr>
              <a:t>Noisy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504748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Biological and technical variability means the same gene gives different counts in different samples — even identical ones.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5008" y="4590288"/>
            <a:ext cx="3383280" cy="150876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6" y="4645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6EAA"/>
                </a:solidFill>
              </a:rPr>
              <a:t>Comparable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74736" y="504748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After normalization, counts from different samples can be fairly compared. Before that, they cannot.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E3A4A"/>
                </a:solidFill>
              </a:rPr>
              <a:t>Making Counts Comparable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8494"/>
                </a:solidFill>
              </a:rPr>
              <a:t>Normalization removes technical differences so biological signal survives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44752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457200" cy="2331720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44752"/>
            <a:ext cx="5577840" cy="475488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517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B6B52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53619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B6B52"/>
                </a:solidFill>
              </a:rPr>
              <a:t>Counts arrive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493775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Each sample has a different number of total reads. A gene with 100 reads in sample A looks less expressed than 100 reads in sample B if B was sequenced twice as deeply — even if expression is identical.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444752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444752"/>
            <a:ext cx="457200" cy="233172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1928" y="1444752"/>
            <a:ext cx="5577840" cy="475488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517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A7FA5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53619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7FA5"/>
                </a:solidFill>
              </a:rPr>
              <a:t>Build a pseudo-reference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93392"/>
            <a:ext cx="493775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For each gene compute the geometric mean across all samples. This is a stable reference that is not dominated by any single highly-expressed gene.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959352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959352"/>
            <a:ext cx="457200" cy="233172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959352"/>
            <a:ext cx="5577840" cy="475488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40325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908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050791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908A"/>
                </a:solidFill>
              </a:rPr>
              <a:t>Compute size factors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507992"/>
            <a:ext cx="493775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For each sample, take the ratio of every gene to its pseudo-reference. The size factor is the median of these ratios — robust to outlier genes.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8" y="3959352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8" y="3959352"/>
            <a:ext cx="457200" cy="233172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8" y="3959352"/>
            <a:ext cx="5577840" cy="475488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0325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9A6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4050791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9A60"/>
                </a:solidFill>
              </a:rPr>
              <a:t>Divide and compare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507992"/>
            <a:ext cx="493775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4A"/>
                </a:solidFill>
              </a:rPr>
              <a:t>Divide each count by its sample's size factor. Now 100 counts in A and 100 counts in B mean the same thing — equal expression.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6446520"/>
            <a:ext cx="11411712" cy="347472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6B52"/>
                </a:solidFill>
              </a:rPr>
              <a:t>DESeq2 normalization (median-of-ratios) is more robust than simple CPM (counts per million) — outlier genes do not distort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E3A4A"/>
                </a:solidFill>
              </a:rPr>
              <a:t>The Statistical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8494"/>
                </a:solidFill>
              </a:rPr>
              <a:t>How DESeq2 decides whether a gene truly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44752"/>
            <a:ext cx="544068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5440680" cy="530352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7FA5"/>
                </a:solidFill>
              </a:rPr>
              <a:t>Negative Binomial model  ·  Per gene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84831"/>
            <a:ext cx="507492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A4A"/>
                </a:solidFill>
              </a:rPr>
              <a:t>Count data is not normally distributed — it has many zeros, a long tail, and variance that grows with the mean.
The Negative Binomial distribution captures this naturally. DESeq2 fits one such model per gene, estimating:
·  The mean expression per condition
·  A dispersion parameter (biological variability)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444752"/>
            <a:ext cx="5788152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07608" y="1444752"/>
            <a:ext cx="5788152" cy="530352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996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B6B52"/>
                </a:solidFill>
              </a:rPr>
              <a:t>Wald test  ·  Per gene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084831"/>
            <a:ext cx="539496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A4A"/>
                </a:solidFill>
              </a:rPr>
              <a:t>After fitting, DESeq2 tests: is the log₂ fold change significantly different from zero?
The Wald statistic = log₂FC / SE
A large |statistic| → small p-value → strong evidence that the gene changed.
Dispersion shrinkage borrows information across all genes — crucial when only 3–6 samples are available.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681728"/>
            <a:ext cx="1141171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681728"/>
            <a:ext cx="256032" cy="1572768"/>
          </a:xfrm>
          <a:prstGeom prst="rect">
            <a:avLst/>
          </a:prstGeom>
          <a:solidFill>
            <a:srgbClr val="6E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754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4A"/>
                </a:solidFill>
              </a:rPr>
              <a:t>Multiple testing 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157216"/>
            <a:ext cx="10789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A4A"/>
                </a:solidFill>
              </a:rPr>
              <a:t>Testing 500 genes at p &lt; 0.05 would give ~25 false positives by chance. Benjamini-Hochberg FDR controls the expected fraction of false discoveries — far more powerful than Bonferroni for genomics.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E3A4A"/>
                </a:solidFill>
              </a:rPr>
              <a:t>Reading 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8494"/>
                </a:solidFill>
              </a:rPr>
              <a:t>Volcano plot, heatmap, and the results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81328"/>
            <a:ext cx="544068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81328"/>
            <a:ext cx="5440680" cy="530352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27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6EAA"/>
                </a:solidFill>
              </a:rPr>
              <a:t>Volcano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84831"/>
            <a:ext cx="507492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A4A"/>
                </a:solidFill>
              </a:rPr>
              <a:t>X axis: log₂ fold change (effect size)
Y axis: −log₁₀(adjusted p-value) (confidence)
·  Top right → significantly up in treated
·  Top left  → significantly down in treated
·  Bottom    → not significant
Genes that are both large and high on the plot are the most reliable candidates.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481328"/>
            <a:ext cx="5788152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07608" y="1481328"/>
            <a:ext cx="5788152" cy="530352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527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9A60"/>
                </a:solidFill>
              </a:rPr>
              <a:t>Heatmap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084831"/>
            <a:ext cx="539496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A4A"/>
                </a:solidFill>
              </a:rPr>
              <a:t>Shows expression of the top DE genes across all samples.
Each row is a gene, each column a sample.
Color encodes the z-score — how far above or below each gene's mean.
Good heatmap: all control samples cluster together, all treated samples cluster together — confirming the biological signal is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800600"/>
            <a:ext cx="11411712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800600"/>
            <a:ext cx="256032" cy="1938528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873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6EAA"/>
                </a:solidFill>
              </a:rPr>
              <a:t>log₂FC quick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257800"/>
            <a:ext cx="2560320" cy="1298448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3218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908A"/>
                </a:solidFill>
              </a:rPr>
              <a:t>+1  →  2×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687568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twice as expressed in treated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5257800"/>
            <a:ext cx="2560320" cy="1298448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53218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7FA5"/>
                </a:solidFill>
              </a:rPr>
              <a:t>+2  →  4×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5687568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four times more expressed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5257800"/>
            <a:ext cx="2560320" cy="1298448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53218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B6B52"/>
                </a:solidFill>
              </a:rPr>
              <a:t>−1  →  2×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5687568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half as expressed in treated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9408" y="5257800"/>
            <a:ext cx="2560320" cy="1298448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53218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EAA"/>
                </a:solidFill>
              </a:rPr>
              <a:t>−2  →  4× 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5687568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four times less expressed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E3A4A"/>
                </a:solidFill>
              </a:rPr>
              <a:t>What We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8494"/>
                </a:solidFill>
              </a:rPr>
              <a:t>From a counts matrix to biological insight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81328"/>
            <a:ext cx="3703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81328"/>
            <a:ext cx="3703320" cy="50292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256032" cy="228600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56362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908A"/>
                </a:solidFill>
              </a:rPr>
              <a:t>Changed genes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048256"/>
            <a:ext cx="35204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A ranked list of genes that changed between conditions — with direction, magnitude, and statistical confidence.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481328"/>
            <a:ext cx="3703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81328"/>
            <a:ext cx="3703320" cy="50292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81328"/>
            <a:ext cx="256032" cy="2286000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56362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FA5"/>
                </a:solidFill>
              </a:rPr>
              <a:t>Effect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048256"/>
            <a:ext cx="35204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log₂FC tells us how much each gene changed. A padj &lt; 0.05 tells us this is unlikely by chance.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481328"/>
            <a:ext cx="3703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481328"/>
            <a:ext cx="3703320" cy="502920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481328"/>
            <a:ext cx="256032" cy="2286000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6362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B6B52"/>
                </a:solidFill>
              </a:rPr>
              <a:t>Sample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048256"/>
            <a:ext cx="35204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PCA and the correlation matrix reveal batch effects, outlier samples, or mislabeled metadata before any testing.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968496"/>
            <a:ext cx="3703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968496"/>
            <a:ext cx="3703320" cy="50292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3968496"/>
            <a:ext cx="256032" cy="2286000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050791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6EAA"/>
                </a:solidFill>
              </a:rPr>
              <a:t>Pathway biology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535424"/>
            <a:ext cx="35204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DE genes can be submitted to enrichment tools (GSEA, ORA) to identify which biological processes were activated or repressed.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3968496"/>
            <a:ext cx="3703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4256" y="3968496"/>
            <a:ext cx="3703320" cy="50292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4256" y="3968496"/>
            <a:ext cx="256032" cy="2286000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4050791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9A60"/>
                </a:solidFill>
              </a:rPr>
              <a:t>Replicates matter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4535424"/>
            <a:ext cx="35204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4A"/>
                </a:solidFill>
              </a:rPr>
              <a:t>With 3 replicates DESeq2 detects large, consistent changes. More replicates means greater power to find subtle ones.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446520"/>
            <a:ext cx="11411712" cy="347472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F9A60"/>
                </a:solidFill>
              </a:rPr>
              <a:t>The same pipeline applies to any RNA-seq dataset — microbes, mouse, human. The biology changes, the process stays the same.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